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  <p:sldId id="267" r:id="rId13"/>
    <p:sldId id="268" r:id="rId14"/>
  </p:sldIdLst>
  <p:sldSz cx="13679488" cy="7380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69C"/>
    <a:srgbClr val="9966FF"/>
    <a:srgbClr val="FF7C80"/>
    <a:srgbClr val="FF9999"/>
    <a:srgbClr val="CCCC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7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9936" y="1207839"/>
            <a:ext cx="10259616" cy="2569434"/>
          </a:xfrm>
        </p:spPr>
        <p:txBody>
          <a:bodyPr anchor="b"/>
          <a:lstStyle>
            <a:lvl1pPr algn="ctr">
              <a:defRPr sz="64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936" y="3876360"/>
            <a:ext cx="10259616" cy="1781861"/>
          </a:xfrm>
        </p:spPr>
        <p:txBody>
          <a:bodyPr/>
          <a:lstStyle>
            <a:lvl1pPr marL="0" indent="0" algn="ctr">
              <a:buNone/>
              <a:defRPr sz="2583"/>
            </a:lvl1pPr>
            <a:lvl2pPr marL="492039" indent="0" algn="ctr">
              <a:buNone/>
              <a:defRPr sz="2152"/>
            </a:lvl2pPr>
            <a:lvl3pPr marL="984077" indent="0" algn="ctr">
              <a:buNone/>
              <a:defRPr sz="1937"/>
            </a:lvl3pPr>
            <a:lvl4pPr marL="1476116" indent="0" algn="ctr">
              <a:buNone/>
              <a:defRPr sz="1722"/>
            </a:lvl4pPr>
            <a:lvl5pPr marL="1968155" indent="0" algn="ctr">
              <a:buNone/>
              <a:defRPr sz="1722"/>
            </a:lvl5pPr>
            <a:lvl6pPr marL="2460193" indent="0" algn="ctr">
              <a:buNone/>
              <a:defRPr sz="1722"/>
            </a:lvl6pPr>
            <a:lvl7pPr marL="2952232" indent="0" algn="ctr">
              <a:buNone/>
              <a:defRPr sz="1722"/>
            </a:lvl7pPr>
            <a:lvl8pPr marL="3444270" indent="0" algn="ctr">
              <a:buNone/>
              <a:defRPr sz="1722"/>
            </a:lvl8pPr>
            <a:lvl9pPr marL="3936309" indent="0" algn="ctr">
              <a:buNone/>
              <a:defRPr sz="172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85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28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40" y="1839948"/>
            <a:ext cx="11798558" cy="3069994"/>
          </a:xfrm>
        </p:spPr>
        <p:txBody>
          <a:bodyPr anchor="b"/>
          <a:lstStyle>
            <a:lvl1pPr>
              <a:defRPr sz="64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340" y="4938986"/>
            <a:ext cx="11798558" cy="1614437"/>
          </a:xfrm>
        </p:spPr>
        <p:txBody>
          <a:bodyPr/>
          <a:lstStyle>
            <a:lvl1pPr marL="0" indent="0">
              <a:buNone/>
              <a:defRPr sz="2583">
                <a:solidFill>
                  <a:schemeClr val="tx1">
                    <a:tint val="75000"/>
                  </a:schemeClr>
                </a:solidFill>
              </a:defRPr>
            </a:lvl1pPr>
            <a:lvl2pPr marL="492039" indent="0">
              <a:buNone/>
              <a:defRPr sz="2152">
                <a:solidFill>
                  <a:schemeClr val="tx1">
                    <a:tint val="75000"/>
                  </a:schemeClr>
                </a:solidFill>
              </a:defRPr>
            </a:lvl2pPr>
            <a:lvl3pPr marL="984077" indent="0">
              <a:buNone/>
              <a:defRPr sz="1937">
                <a:solidFill>
                  <a:schemeClr val="tx1">
                    <a:tint val="75000"/>
                  </a:schemeClr>
                </a:solidFill>
              </a:defRPr>
            </a:lvl3pPr>
            <a:lvl4pPr marL="1476116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4pPr>
            <a:lvl5pPr marL="1968155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5pPr>
            <a:lvl6pPr marL="2460193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6pPr>
            <a:lvl7pPr marL="295223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7pPr>
            <a:lvl8pPr marL="3444270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8pPr>
            <a:lvl9pPr marL="3936309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51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0465" y="1964660"/>
            <a:ext cx="5813782" cy="468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5241" y="1964660"/>
            <a:ext cx="5813782" cy="468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64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392932"/>
            <a:ext cx="11798558" cy="14265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247" y="1809196"/>
            <a:ext cx="5787064" cy="886659"/>
          </a:xfrm>
        </p:spPr>
        <p:txBody>
          <a:bodyPr anchor="b"/>
          <a:lstStyle>
            <a:lvl1pPr marL="0" indent="0">
              <a:buNone/>
              <a:defRPr sz="2583" b="1"/>
            </a:lvl1pPr>
            <a:lvl2pPr marL="492039" indent="0">
              <a:buNone/>
              <a:defRPr sz="2152" b="1"/>
            </a:lvl2pPr>
            <a:lvl3pPr marL="984077" indent="0">
              <a:buNone/>
              <a:defRPr sz="1937" b="1"/>
            </a:lvl3pPr>
            <a:lvl4pPr marL="1476116" indent="0">
              <a:buNone/>
              <a:defRPr sz="1722" b="1"/>
            </a:lvl4pPr>
            <a:lvl5pPr marL="1968155" indent="0">
              <a:buNone/>
              <a:defRPr sz="1722" b="1"/>
            </a:lvl5pPr>
            <a:lvl6pPr marL="2460193" indent="0">
              <a:buNone/>
              <a:defRPr sz="1722" b="1"/>
            </a:lvl6pPr>
            <a:lvl7pPr marL="2952232" indent="0">
              <a:buNone/>
              <a:defRPr sz="1722" b="1"/>
            </a:lvl7pPr>
            <a:lvl8pPr marL="3444270" indent="0">
              <a:buNone/>
              <a:defRPr sz="1722" b="1"/>
            </a:lvl8pPr>
            <a:lvl9pPr marL="3936309" indent="0">
              <a:buNone/>
              <a:defRPr sz="17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247" y="2695855"/>
            <a:ext cx="5787064" cy="3965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25241" y="1809196"/>
            <a:ext cx="5815564" cy="886659"/>
          </a:xfrm>
        </p:spPr>
        <p:txBody>
          <a:bodyPr anchor="b"/>
          <a:lstStyle>
            <a:lvl1pPr marL="0" indent="0">
              <a:buNone/>
              <a:defRPr sz="2583" b="1"/>
            </a:lvl1pPr>
            <a:lvl2pPr marL="492039" indent="0">
              <a:buNone/>
              <a:defRPr sz="2152" b="1"/>
            </a:lvl2pPr>
            <a:lvl3pPr marL="984077" indent="0">
              <a:buNone/>
              <a:defRPr sz="1937" b="1"/>
            </a:lvl3pPr>
            <a:lvl4pPr marL="1476116" indent="0">
              <a:buNone/>
              <a:defRPr sz="1722" b="1"/>
            </a:lvl4pPr>
            <a:lvl5pPr marL="1968155" indent="0">
              <a:buNone/>
              <a:defRPr sz="1722" b="1"/>
            </a:lvl5pPr>
            <a:lvl6pPr marL="2460193" indent="0">
              <a:buNone/>
              <a:defRPr sz="1722" b="1"/>
            </a:lvl6pPr>
            <a:lvl7pPr marL="2952232" indent="0">
              <a:buNone/>
              <a:defRPr sz="1722" b="1"/>
            </a:lvl7pPr>
            <a:lvl8pPr marL="3444270" indent="0">
              <a:buNone/>
              <a:defRPr sz="1722" b="1"/>
            </a:lvl8pPr>
            <a:lvl9pPr marL="3936309" indent="0">
              <a:buNone/>
              <a:defRPr sz="17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25241" y="2695855"/>
            <a:ext cx="5815564" cy="3965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76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63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43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92019"/>
            <a:ext cx="4411991" cy="1722067"/>
          </a:xfrm>
        </p:spPr>
        <p:txBody>
          <a:bodyPr anchor="b"/>
          <a:lstStyle>
            <a:lvl1pPr>
              <a:defRPr sz="34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5564" y="1062625"/>
            <a:ext cx="6925241" cy="5244788"/>
          </a:xfrm>
        </p:spPr>
        <p:txBody>
          <a:bodyPr/>
          <a:lstStyle>
            <a:lvl1pPr>
              <a:defRPr sz="3444"/>
            </a:lvl1pPr>
            <a:lvl2pPr>
              <a:defRPr sz="3013"/>
            </a:lvl2pPr>
            <a:lvl3pPr>
              <a:defRPr sz="2583"/>
            </a:lvl3pPr>
            <a:lvl4pPr>
              <a:defRPr sz="2152"/>
            </a:lvl4pPr>
            <a:lvl5pPr>
              <a:defRPr sz="2152"/>
            </a:lvl5pPr>
            <a:lvl6pPr>
              <a:defRPr sz="2152"/>
            </a:lvl6pPr>
            <a:lvl7pPr>
              <a:defRPr sz="2152"/>
            </a:lvl7pPr>
            <a:lvl8pPr>
              <a:defRPr sz="2152"/>
            </a:lvl8pPr>
            <a:lvl9pPr>
              <a:defRPr sz="21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214086"/>
            <a:ext cx="4411991" cy="4101869"/>
          </a:xfrm>
        </p:spPr>
        <p:txBody>
          <a:bodyPr/>
          <a:lstStyle>
            <a:lvl1pPr marL="0" indent="0">
              <a:buNone/>
              <a:defRPr sz="1722"/>
            </a:lvl1pPr>
            <a:lvl2pPr marL="492039" indent="0">
              <a:buNone/>
              <a:defRPr sz="1507"/>
            </a:lvl2pPr>
            <a:lvl3pPr marL="984077" indent="0">
              <a:buNone/>
              <a:defRPr sz="1291"/>
            </a:lvl3pPr>
            <a:lvl4pPr marL="1476116" indent="0">
              <a:buNone/>
              <a:defRPr sz="1076"/>
            </a:lvl4pPr>
            <a:lvl5pPr marL="1968155" indent="0">
              <a:buNone/>
              <a:defRPr sz="1076"/>
            </a:lvl5pPr>
            <a:lvl6pPr marL="2460193" indent="0">
              <a:buNone/>
              <a:defRPr sz="1076"/>
            </a:lvl6pPr>
            <a:lvl7pPr marL="2952232" indent="0">
              <a:buNone/>
              <a:defRPr sz="1076"/>
            </a:lvl7pPr>
            <a:lvl8pPr marL="3444270" indent="0">
              <a:buNone/>
              <a:defRPr sz="1076"/>
            </a:lvl8pPr>
            <a:lvl9pPr marL="3936309" indent="0">
              <a:buNone/>
              <a:defRPr sz="10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47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92019"/>
            <a:ext cx="4411991" cy="1722067"/>
          </a:xfrm>
        </p:spPr>
        <p:txBody>
          <a:bodyPr anchor="b"/>
          <a:lstStyle>
            <a:lvl1pPr>
              <a:defRPr sz="34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15564" y="1062625"/>
            <a:ext cx="6925241" cy="5244788"/>
          </a:xfrm>
        </p:spPr>
        <p:txBody>
          <a:bodyPr anchor="t"/>
          <a:lstStyle>
            <a:lvl1pPr marL="0" indent="0">
              <a:buNone/>
              <a:defRPr sz="3444"/>
            </a:lvl1pPr>
            <a:lvl2pPr marL="492039" indent="0">
              <a:buNone/>
              <a:defRPr sz="3013"/>
            </a:lvl2pPr>
            <a:lvl3pPr marL="984077" indent="0">
              <a:buNone/>
              <a:defRPr sz="2583"/>
            </a:lvl3pPr>
            <a:lvl4pPr marL="1476116" indent="0">
              <a:buNone/>
              <a:defRPr sz="2152"/>
            </a:lvl4pPr>
            <a:lvl5pPr marL="1968155" indent="0">
              <a:buNone/>
              <a:defRPr sz="2152"/>
            </a:lvl5pPr>
            <a:lvl6pPr marL="2460193" indent="0">
              <a:buNone/>
              <a:defRPr sz="2152"/>
            </a:lvl6pPr>
            <a:lvl7pPr marL="2952232" indent="0">
              <a:buNone/>
              <a:defRPr sz="2152"/>
            </a:lvl7pPr>
            <a:lvl8pPr marL="3444270" indent="0">
              <a:buNone/>
              <a:defRPr sz="2152"/>
            </a:lvl8pPr>
            <a:lvl9pPr marL="3936309" indent="0">
              <a:buNone/>
              <a:defRPr sz="215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214086"/>
            <a:ext cx="4411991" cy="4101869"/>
          </a:xfrm>
        </p:spPr>
        <p:txBody>
          <a:bodyPr/>
          <a:lstStyle>
            <a:lvl1pPr marL="0" indent="0">
              <a:buNone/>
              <a:defRPr sz="1722"/>
            </a:lvl1pPr>
            <a:lvl2pPr marL="492039" indent="0">
              <a:buNone/>
              <a:defRPr sz="1507"/>
            </a:lvl2pPr>
            <a:lvl3pPr marL="984077" indent="0">
              <a:buNone/>
              <a:defRPr sz="1291"/>
            </a:lvl3pPr>
            <a:lvl4pPr marL="1476116" indent="0">
              <a:buNone/>
              <a:defRPr sz="1076"/>
            </a:lvl4pPr>
            <a:lvl5pPr marL="1968155" indent="0">
              <a:buNone/>
              <a:defRPr sz="1076"/>
            </a:lvl5pPr>
            <a:lvl6pPr marL="2460193" indent="0">
              <a:buNone/>
              <a:defRPr sz="1076"/>
            </a:lvl6pPr>
            <a:lvl7pPr marL="2952232" indent="0">
              <a:buNone/>
              <a:defRPr sz="1076"/>
            </a:lvl7pPr>
            <a:lvl8pPr marL="3444270" indent="0">
              <a:buNone/>
              <a:defRPr sz="1076"/>
            </a:lvl8pPr>
            <a:lvl9pPr marL="3936309" indent="0">
              <a:buNone/>
              <a:defRPr sz="10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973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697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89383" y="392932"/>
            <a:ext cx="2949640" cy="62544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0465" y="392932"/>
            <a:ext cx="8677925" cy="62544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019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0465" y="392932"/>
            <a:ext cx="11798558" cy="1426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465" y="1964660"/>
            <a:ext cx="11798558" cy="4682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0465" y="6840434"/>
            <a:ext cx="3077885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73402-0CE1-45EE-BCE5-87E76BD81682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31331" y="6840434"/>
            <a:ext cx="4616827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61138" y="6840434"/>
            <a:ext cx="3077885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2B6E0-3892-4537-AE2A-A3C9BBAC1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68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4077" rtl="0" eaLnBrk="1" latinLnBrk="0" hangingPunct="1">
        <a:lnSpc>
          <a:spcPct val="90000"/>
        </a:lnSpc>
        <a:spcBef>
          <a:spcPct val="0"/>
        </a:spcBef>
        <a:buNone/>
        <a:defRPr sz="47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019" indent="-246019" algn="l" defTabSz="984077" rtl="0" eaLnBrk="1" latinLnBrk="0" hangingPunct="1">
        <a:lnSpc>
          <a:spcPct val="90000"/>
        </a:lnSpc>
        <a:spcBef>
          <a:spcPts val="1076"/>
        </a:spcBef>
        <a:buFont typeface="Arial" panose="020B0604020202020204" pitchFamily="34" charset="0"/>
        <a:buChar char="•"/>
        <a:defRPr sz="3013" kern="1200">
          <a:solidFill>
            <a:schemeClr val="tx1"/>
          </a:solidFill>
          <a:latin typeface="+mn-lt"/>
          <a:ea typeface="+mn-ea"/>
          <a:cs typeface="+mn-cs"/>
        </a:defRPr>
      </a:lvl1pPr>
      <a:lvl2pPr marL="738058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2583" kern="1200">
          <a:solidFill>
            <a:schemeClr val="tx1"/>
          </a:solidFill>
          <a:latin typeface="+mn-lt"/>
          <a:ea typeface="+mn-ea"/>
          <a:cs typeface="+mn-cs"/>
        </a:defRPr>
      </a:lvl2pPr>
      <a:lvl3pPr marL="1230097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2152" kern="1200">
          <a:solidFill>
            <a:schemeClr val="tx1"/>
          </a:solidFill>
          <a:latin typeface="+mn-lt"/>
          <a:ea typeface="+mn-ea"/>
          <a:cs typeface="+mn-cs"/>
        </a:defRPr>
      </a:lvl3pPr>
      <a:lvl4pPr marL="1722135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4pPr>
      <a:lvl5pPr marL="2214174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5pPr>
      <a:lvl6pPr marL="2706213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6pPr>
      <a:lvl7pPr marL="3198251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7pPr>
      <a:lvl8pPr marL="3690290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8pPr>
      <a:lvl9pPr marL="4182328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1pPr>
      <a:lvl2pPr marL="492039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2pPr>
      <a:lvl3pPr marL="984077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3pPr>
      <a:lvl4pPr marL="1476116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4pPr>
      <a:lvl5pPr marL="1968155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5pPr>
      <a:lvl6pPr marL="2460193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6pPr>
      <a:lvl7pPr marL="2952232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7pPr>
      <a:lvl8pPr marL="3444270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8pPr>
      <a:lvl9pPr marL="3936309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FBF666-E935-AF2A-7184-3567AE0F8FFA}"/>
              </a:ext>
            </a:extLst>
          </p:cNvPr>
          <p:cNvSpPr/>
          <p:nvPr/>
        </p:nvSpPr>
        <p:spPr>
          <a:xfrm>
            <a:off x="743744" y="261144"/>
            <a:ext cx="4837471" cy="6858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C8317284-A53A-F402-77D9-D4628B726EA9}"/>
              </a:ext>
            </a:extLst>
          </p:cNvPr>
          <p:cNvSpPr/>
          <p:nvPr/>
        </p:nvSpPr>
        <p:spPr>
          <a:xfrm>
            <a:off x="979718" y="1912963"/>
            <a:ext cx="4247536" cy="4498258"/>
          </a:xfrm>
          <a:prstGeom prst="cloud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CB3DA-F5CA-C4B4-9C87-A30BE00EB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403" y="2800866"/>
            <a:ext cx="3215147" cy="20470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0BCF67-C106-8A2D-BC58-6A832093FC34}"/>
              </a:ext>
            </a:extLst>
          </p:cNvPr>
          <p:cNvSpPr txBox="1"/>
          <p:nvPr/>
        </p:nvSpPr>
        <p:spPr>
          <a:xfrm>
            <a:off x="6235060" y="958857"/>
            <a:ext cx="55847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accent6"/>
                </a:solidFill>
              </a:rPr>
              <a:t>AutoHealAI</a:t>
            </a:r>
            <a:r>
              <a:rPr lang="en-IN" sz="2800" b="1" dirty="0">
                <a:solidFill>
                  <a:srgbClr val="002060"/>
                </a:solidFill>
              </a:rPr>
              <a:t>:</a:t>
            </a:r>
            <a:r>
              <a:rPr lang="en-IN" sz="2800" b="1" dirty="0">
                <a:solidFill>
                  <a:srgbClr val="0070C0"/>
                </a:solidFill>
              </a:rPr>
              <a:t> Intelligent Multi-Agent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401EE-5BFF-3D87-9024-0E5D6CB80B13}"/>
              </a:ext>
            </a:extLst>
          </p:cNvPr>
          <p:cNvSpPr txBox="1"/>
          <p:nvPr/>
        </p:nvSpPr>
        <p:spPr>
          <a:xfrm>
            <a:off x="5935177" y="5704598"/>
            <a:ext cx="33331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Syed Abjimiah </a:t>
            </a:r>
          </a:p>
          <a:p>
            <a:r>
              <a:rPr lang="en-IN" sz="2000" b="1" dirty="0"/>
              <a:t>&amp;</a:t>
            </a:r>
          </a:p>
          <a:p>
            <a:r>
              <a:rPr lang="en-IN" sz="2000" b="1" dirty="0"/>
              <a:t>Amit Kumar Yadav</a:t>
            </a:r>
          </a:p>
        </p:txBody>
      </p:sp>
    </p:spTree>
    <p:extLst>
      <p:ext uri="{BB962C8B-B14F-4D97-AF65-F5344CB8AC3E}">
        <p14:creationId xmlns:p14="http://schemas.microsoft.com/office/powerpoint/2010/main" val="98729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B437BC-A909-71B7-3D90-ACF6D45A7CD1}"/>
              </a:ext>
            </a:extLst>
          </p:cNvPr>
          <p:cNvSpPr txBox="1"/>
          <p:nvPr/>
        </p:nvSpPr>
        <p:spPr>
          <a:xfrm>
            <a:off x="1377926" y="519442"/>
            <a:ext cx="9822425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070C0"/>
                </a:solidFill>
              </a:rPr>
              <a:t>What is Self-Healing?</a:t>
            </a:r>
          </a:p>
          <a:p>
            <a:pPr algn="just"/>
            <a:endParaRPr lang="en-IN" b="1" dirty="0"/>
          </a:p>
          <a:p>
            <a:pPr algn="just"/>
            <a:r>
              <a:rPr lang="en-IN" dirty="0"/>
              <a:t>Self-Healing is an intelligent capability that enables a software system to automatically detect failures, identify the root cause, recover from the issue, and verify that the service is healthy again—without requiring manual intervention.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Instead of waiting for an engineer to investigate production issues, AI agents continuously monitor the application, analyse logs, perform recovery actions, validate the results, and restore normal operations automatically.</a:t>
            </a:r>
          </a:p>
          <a:p>
            <a:pPr algn="just"/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C7275F-A10E-A6CA-C0CC-AAF799E2D460}"/>
              </a:ext>
            </a:extLst>
          </p:cNvPr>
          <p:cNvCxnSpPr/>
          <p:nvPr/>
        </p:nvCxnSpPr>
        <p:spPr>
          <a:xfrm>
            <a:off x="1613899" y="939570"/>
            <a:ext cx="839183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EA09A4F-32A8-0564-2C79-315C22F0E2D6}"/>
              </a:ext>
            </a:extLst>
          </p:cNvPr>
          <p:cNvSpPr txBox="1"/>
          <p:nvPr/>
        </p:nvSpPr>
        <p:spPr>
          <a:xfrm>
            <a:off x="1377925" y="3337335"/>
            <a:ext cx="9822425" cy="437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070C0"/>
                </a:solidFill>
              </a:rPr>
              <a:t>Why Self-Healing?</a:t>
            </a:r>
          </a:p>
          <a:p>
            <a:pPr algn="just"/>
            <a:endParaRPr lang="en-IN" b="1" dirty="0">
              <a:solidFill>
                <a:srgbClr val="0070C0"/>
              </a:solidFill>
            </a:endParaRPr>
          </a:p>
          <a:p>
            <a:pPr algn="just"/>
            <a:r>
              <a:rPr lang="en-IN" dirty="0"/>
              <a:t>Traditional applications rely heavily on manual monitoring and troubleshooting, which increases downtime and impacts user experience.</a:t>
            </a:r>
          </a:p>
          <a:p>
            <a:pPr algn="just"/>
            <a:endParaRPr lang="en-IN" dirty="0"/>
          </a:p>
          <a:p>
            <a:pPr algn="just"/>
            <a:r>
              <a:rPr lang="en-IN" dirty="0" err="1"/>
              <a:t>AutoHealAI</a:t>
            </a:r>
            <a:r>
              <a:rPr lang="en-IN" dirty="0"/>
              <a:t> minimizes service disruption by providing:</a:t>
            </a:r>
          </a:p>
          <a:p>
            <a:pPr algn="just"/>
            <a:endParaRPr lang="en-IN" dirty="0"/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Automatic Failure Detection</a:t>
            </a:r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Intelligent Root Cause Analysis</a:t>
            </a:r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Automated Recovery Actions</a:t>
            </a:r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Continuous Health Verification</a:t>
            </a:r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Reduced Mean Time To Recovery (MTTR)</a:t>
            </a:r>
          </a:p>
          <a:p>
            <a:pPr marL="285750" indent="-285750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dirty="0"/>
              <a:t> Improved System Reliability and Availability</a:t>
            </a:r>
          </a:p>
          <a:p>
            <a:pPr algn="just"/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C961BE-F853-A557-EE15-75D827249B49}"/>
              </a:ext>
            </a:extLst>
          </p:cNvPr>
          <p:cNvCxnSpPr/>
          <p:nvPr/>
        </p:nvCxnSpPr>
        <p:spPr>
          <a:xfrm>
            <a:off x="1613899" y="3820422"/>
            <a:ext cx="839183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78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5E6265-BAAF-5070-AA67-6D9CD4215691}"/>
              </a:ext>
            </a:extLst>
          </p:cNvPr>
          <p:cNvSpPr txBox="1"/>
          <p:nvPr/>
        </p:nvSpPr>
        <p:spPr>
          <a:xfrm>
            <a:off x="1481164" y="650073"/>
            <a:ext cx="4350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Project Overview (PRD)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F387D-3DBC-AE79-B162-ECF2DEDDF38C}"/>
              </a:ext>
            </a:extLst>
          </p:cNvPr>
          <p:cNvCxnSpPr/>
          <p:nvPr/>
        </p:nvCxnSpPr>
        <p:spPr>
          <a:xfrm>
            <a:off x="1584405" y="1190292"/>
            <a:ext cx="103386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1CDD96-5E24-F72C-88CA-73AC84E2585E}"/>
              </a:ext>
            </a:extLst>
          </p:cNvPr>
          <p:cNvSpPr txBox="1"/>
          <p:nvPr/>
        </p:nvSpPr>
        <p:spPr>
          <a:xfrm>
            <a:off x="1481163" y="1272343"/>
            <a:ext cx="10338620" cy="131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Project Type</a:t>
            </a:r>
            <a:r>
              <a:rPr lang="en-US" b="1" dirty="0"/>
              <a:t>: </a:t>
            </a:r>
            <a:r>
              <a:rPr lang="en-IN" b="1" dirty="0"/>
              <a:t>Intelligent Multi-Agent Platform for Weather API Monitoring &amp; Automated Recovery</a:t>
            </a:r>
            <a:r>
              <a:rPr lang="en-IN" dirty="0"/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Domain</a:t>
            </a:r>
            <a:r>
              <a:rPr lang="en-US" dirty="0"/>
              <a:t>        : </a:t>
            </a:r>
            <a:r>
              <a:rPr lang="en-IN" b="1" dirty="0"/>
              <a:t>Weather API Monitoring</a:t>
            </a:r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96CA77-FBFB-3A49-C647-28BD1FC375E2}"/>
              </a:ext>
            </a:extLst>
          </p:cNvPr>
          <p:cNvSpPr/>
          <p:nvPr/>
        </p:nvSpPr>
        <p:spPr>
          <a:xfrm>
            <a:off x="1569652" y="2127126"/>
            <a:ext cx="10161642" cy="1908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600" b="1" dirty="0">
                <a:solidFill>
                  <a:srgbClr val="0070C0"/>
                </a:solidFill>
              </a:rPr>
              <a:t>Project Description:</a:t>
            </a:r>
          </a:p>
          <a:p>
            <a:pPr algn="just"/>
            <a:endParaRPr lang="en-IN" sz="1600" b="1" dirty="0">
              <a:solidFill>
                <a:schemeClr val="tx1"/>
              </a:solidFill>
            </a:endParaRPr>
          </a:p>
          <a:p>
            <a:pPr algn="just"/>
            <a:r>
              <a:rPr lang="en-IN" sz="1500" dirty="0" err="1">
                <a:solidFill>
                  <a:schemeClr val="tx1"/>
                </a:solidFill>
              </a:rPr>
              <a:t>AutoHealAI</a:t>
            </a:r>
            <a:r>
              <a:rPr lang="en-IN" sz="1500" dirty="0">
                <a:solidFill>
                  <a:schemeClr val="tx1"/>
                </a:solidFill>
              </a:rPr>
              <a:t> is an AI-powered multi-agent platform designed to continuously monitor Weather APIs, detect service failures, diagnose the underlying causes, automatically perform recovery actions, verify system health, and restore services with minimal downtime.</a:t>
            </a:r>
          </a:p>
          <a:p>
            <a:pPr algn="just"/>
            <a:endParaRPr lang="en-IN" sz="1500" dirty="0">
              <a:solidFill>
                <a:schemeClr val="tx1"/>
              </a:solidFill>
            </a:endParaRPr>
          </a:p>
          <a:p>
            <a:pPr algn="just"/>
            <a:r>
              <a:rPr lang="en-IN" sz="1500" dirty="0">
                <a:solidFill>
                  <a:schemeClr val="tx1"/>
                </a:solidFill>
              </a:rPr>
              <a:t>The system combines autonomous AI agents, GraphRAG, observability, and automated healing workflows to ensure high availability and reliable weather information for end users.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339D9-A3FC-ED8A-16BE-1A2BBFA3985B}"/>
              </a:ext>
            </a:extLst>
          </p:cNvPr>
          <p:cNvSpPr txBox="1"/>
          <p:nvPr/>
        </p:nvSpPr>
        <p:spPr>
          <a:xfrm>
            <a:off x="1584405" y="4390692"/>
            <a:ext cx="5471649" cy="2848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Scope</a:t>
            </a:r>
          </a:p>
          <a:p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/>
            <a:r>
              <a:rPr lang="en-IN" b="1" dirty="0"/>
              <a:t>• Real-Time Weather API Monitoring</a:t>
            </a:r>
          </a:p>
          <a:p>
            <a:pPr algn="just"/>
            <a:r>
              <a:rPr lang="en-IN" b="1" dirty="0"/>
              <a:t>• Intelligent Incident Detection</a:t>
            </a:r>
          </a:p>
          <a:p>
            <a:pPr algn="just"/>
            <a:r>
              <a:rPr lang="en-IN" b="1" dirty="0"/>
              <a:t>• AI-Based Root Cause Analysis</a:t>
            </a:r>
          </a:p>
          <a:p>
            <a:pPr algn="just"/>
            <a:r>
              <a:rPr lang="en-IN" b="1" dirty="0"/>
              <a:t>• Automatic Service Recovery</a:t>
            </a:r>
          </a:p>
          <a:p>
            <a:pPr algn="just"/>
            <a:r>
              <a:rPr lang="en-IN" b="1" dirty="0"/>
              <a:t>• Validation &amp; Health Checks</a:t>
            </a:r>
          </a:p>
          <a:p>
            <a:pPr algn="just"/>
            <a:r>
              <a:rPr lang="en-IN" b="1" dirty="0"/>
              <a:t>• Continuous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187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E3559B-5D8B-DCCB-9ABE-1865B00C9AD7}"/>
              </a:ext>
            </a:extLst>
          </p:cNvPr>
          <p:cNvSpPr txBox="1"/>
          <p:nvPr/>
        </p:nvSpPr>
        <p:spPr>
          <a:xfrm>
            <a:off x="1540157" y="570861"/>
            <a:ext cx="5058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Problem Statement: 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95B34C-9087-CA74-3718-F4DECED52980}"/>
              </a:ext>
            </a:extLst>
          </p:cNvPr>
          <p:cNvCxnSpPr/>
          <p:nvPr/>
        </p:nvCxnSpPr>
        <p:spPr>
          <a:xfrm>
            <a:off x="1599153" y="1190292"/>
            <a:ext cx="103386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30896DB-3EE3-F01B-3FEA-618ACF43A419}"/>
              </a:ext>
            </a:extLst>
          </p:cNvPr>
          <p:cNvSpPr/>
          <p:nvPr/>
        </p:nvSpPr>
        <p:spPr>
          <a:xfrm>
            <a:off x="1746635" y="1617997"/>
            <a:ext cx="4513007" cy="51914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Existing System (Without Self-Healing)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Example 1 — Weather API Downtime</a:t>
            </a:r>
          </a:p>
          <a:p>
            <a:r>
              <a:rPr lang="en-IN" b="1" dirty="0">
                <a:solidFill>
                  <a:schemeClr val="tx1"/>
                </a:solidFill>
              </a:rPr>
              <a:t>Scenario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A user requests: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"</a:t>
            </a:r>
            <a:r>
              <a:rPr lang="en-IN" dirty="0">
                <a:solidFill>
                  <a:srgbClr val="0070C0"/>
                </a:solidFill>
              </a:rPr>
              <a:t>What is the weather in Chennai today?“</a:t>
            </a:r>
          </a:p>
          <a:p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The Weather API server unexpectedly crashes.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Result:</a:t>
            </a:r>
          </a:p>
          <a:p>
            <a:r>
              <a:rPr lang="en-IN" dirty="0">
                <a:solidFill>
                  <a:schemeClr val="tx1"/>
                </a:solidFill>
              </a:rPr>
              <a:t>❌ API returns HTTP 503 Service Unavailable</a:t>
            </a:r>
          </a:p>
          <a:p>
            <a:r>
              <a:rPr lang="en-IN" dirty="0">
                <a:solidFill>
                  <a:schemeClr val="tx1"/>
                </a:solidFill>
              </a:rPr>
              <a:t>❌ User receives an error message</a:t>
            </a:r>
          </a:p>
          <a:p>
            <a:r>
              <a:rPr lang="en-IN" dirty="0">
                <a:solidFill>
                  <a:schemeClr val="tx1"/>
                </a:solidFill>
              </a:rPr>
              <a:t>❌ Support team receives alerts</a:t>
            </a:r>
          </a:p>
          <a:p>
            <a:r>
              <a:rPr lang="en-IN" dirty="0">
                <a:solidFill>
                  <a:schemeClr val="tx1"/>
                </a:solidFill>
              </a:rPr>
              <a:t>❌ Engineers manually inspect logs</a:t>
            </a:r>
          </a:p>
          <a:p>
            <a:r>
              <a:rPr lang="en-IN" dirty="0">
                <a:solidFill>
                  <a:schemeClr val="tx1"/>
                </a:solidFill>
              </a:rPr>
              <a:t>❌ container is restarted manually</a:t>
            </a:r>
          </a:p>
          <a:p>
            <a:r>
              <a:rPr lang="en-IN" dirty="0">
                <a:solidFill>
                  <a:schemeClr val="tx1"/>
                </a:solidFill>
              </a:rPr>
              <a:t>❌ Users wait several minutes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2C6E37-422C-691E-4CC6-9C3586FA64B6}"/>
              </a:ext>
            </a:extLst>
          </p:cNvPr>
          <p:cNvSpPr/>
          <p:nvPr/>
        </p:nvSpPr>
        <p:spPr>
          <a:xfrm>
            <a:off x="7754145" y="1617997"/>
            <a:ext cx="4513007" cy="5191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With </a:t>
            </a:r>
            <a:r>
              <a:rPr lang="en-IN" b="1" dirty="0" err="1">
                <a:solidFill>
                  <a:schemeClr val="bg1"/>
                </a:solidFill>
              </a:rPr>
              <a:t>AutoHealAI</a:t>
            </a:r>
            <a:r>
              <a:rPr lang="en-IN" b="1" dirty="0">
                <a:solidFill>
                  <a:schemeClr val="bg1"/>
                </a:solidFill>
              </a:rPr>
              <a:t> (Self-Healing)</a:t>
            </a:r>
          </a:p>
          <a:p>
            <a:r>
              <a:rPr lang="en-IN" b="1" dirty="0">
                <a:solidFill>
                  <a:schemeClr val="bg1"/>
                </a:solidFill>
              </a:rPr>
              <a:t>Example 1</a:t>
            </a:r>
          </a:p>
          <a:p>
            <a:r>
              <a:rPr lang="en-IN" dirty="0">
                <a:solidFill>
                  <a:schemeClr val="bg1"/>
                </a:solidFill>
              </a:rPr>
              <a:t>User asks: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"What is the weather in Chennai today?"</a:t>
            </a:r>
          </a:p>
          <a:p>
            <a:r>
              <a:rPr lang="en-IN" dirty="0">
                <a:solidFill>
                  <a:schemeClr val="bg1"/>
                </a:solidFill>
                <a:highlight>
                  <a:srgbClr val="000000"/>
                </a:highlight>
              </a:rPr>
              <a:t>Workflow: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User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Monitoring Agent detects HTTP 503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Diagnosis Agent </a:t>
            </a:r>
            <a:r>
              <a:rPr lang="en-IN" dirty="0" err="1">
                <a:solidFill>
                  <a:schemeClr val="bg1"/>
                </a:solidFill>
              </a:rPr>
              <a:t>analyzes</a:t>
            </a:r>
            <a:r>
              <a:rPr lang="en-IN" dirty="0">
                <a:solidFill>
                  <a:schemeClr val="bg1"/>
                </a:solidFill>
              </a:rPr>
              <a:t>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Root Cause Agent identifies stopped Docker container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Healing Agent restarts Weather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Validation Agent confirms API health</a:t>
            </a:r>
          </a:p>
          <a:p>
            <a:r>
              <a:rPr lang="en-IN" dirty="0">
                <a:solidFill>
                  <a:schemeClr val="bg1"/>
                </a:solidFill>
              </a:rPr>
              <a:t>Weather information is returned successfully</a:t>
            </a:r>
          </a:p>
          <a:p>
            <a:r>
              <a:rPr lang="en-IN" dirty="0">
                <a:solidFill>
                  <a:schemeClr val="bg1"/>
                </a:solidFill>
              </a:rPr>
              <a:t>Result:</a:t>
            </a:r>
          </a:p>
          <a:p>
            <a:r>
              <a:rPr lang="en-IN" dirty="0">
                <a:solidFill>
                  <a:schemeClr val="bg1"/>
                </a:solidFill>
              </a:rPr>
              <a:t>✅ User receives weather information</a:t>
            </a:r>
          </a:p>
          <a:p>
            <a:r>
              <a:rPr lang="en-IN" dirty="0">
                <a:solidFill>
                  <a:schemeClr val="bg1"/>
                </a:solidFill>
              </a:rPr>
              <a:t>✅ Recovery completed automatically</a:t>
            </a:r>
          </a:p>
          <a:p>
            <a:r>
              <a:rPr lang="en-IN" dirty="0">
                <a:solidFill>
                  <a:schemeClr val="bg1"/>
                </a:solidFill>
              </a:rPr>
              <a:t>✅ No manual intervention required</a:t>
            </a:r>
          </a:p>
        </p:txBody>
      </p:sp>
    </p:spTree>
    <p:extLst>
      <p:ext uri="{BB962C8B-B14F-4D97-AF65-F5344CB8AC3E}">
        <p14:creationId xmlns:p14="http://schemas.microsoft.com/office/powerpoint/2010/main" val="204761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11C2-3278-953E-61AD-27047BAE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8D955-60E1-B308-BF42-F3D456AC29F5}"/>
              </a:ext>
            </a:extLst>
          </p:cNvPr>
          <p:cNvSpPr txBox="1"/>
          <p:nvPr/>
        </p:nvSpPr>
        <p:spPr>
          <a:xfrm>
            <a:off x="1540157" y="570861"/>
            <a:ext cx="5058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Problem Statement: 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B30300-CB27-05D4-9F8E-9CDE8C1C5765}"/>
              </a:ext>
            </a:extLst>
          </p:cNvPr>
          <p:cNvCxnSpPr/>
          <p:nvPr/>
        </p:nvCxnSpPr>
        <p:spPr>
          <a:xfrm>
            <a:off x="1599153" y="1190292"/>
            <a:ext cx="103386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B85DAA5-3FCF-4284-FAF7-24B21CE72958}"/>
              </a:ext>
            </a:extLst>
          </p:cNvPr>
          <p:cNvSpPr/>
          <p:nvPr/>
        </p:nvSpPr>
        <p:spPr>
          <a:xfrm>
            <a:off x="1746635" y="1617997"/>
            <a:ext cx="4513007" cy="51914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Without Self-Healing </a:t>
            </a:r>
          </a:p>
          <a:p>
            <a:r>
              <a:rPr lang="en-IN" b="1" dirty="0">
                <a:solidFill>
                  <a:schemeClr val="tx1"/>
                </a:solidFill>
              </a:rPr>
              <a:t>Example 2 — Slow Weather API Response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A user searches: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"Weather forecast for Bangalore.“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The API experiences high latency because of increased traffic.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Result: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❌ Response takes 40 seconds</a:t>
            </a:r>
          </a:p>
          <a:p>
            <a:r>
              <a:rPr lang="en-IN" dirty="0">
                <a:solidFill>
                  <a:schemeClr val="tx1"/>
                </a:solidFill>
              </a:rPr>
              <a:t>❌ Request eventually times out</a:t>
            </a:r>
          </a:p>
          <a:p>
            <a:r>
              <a:rPr lang="en-IN" dirty="0">
                <a:solidFill>
                  <a:schemeClr val="tx1"/>
                </a:solidFill>
              </a:rPr>
              <a:t>❌ User refreshes repeatedly</a:t>
            </a:r>
          </a:p>
          <a:p>
            <a:r>
              <a:rPr lang="en-IN" dirty="0">
                <a:solidFill>
                  <a:schemeClr val="tx1"/>
                </a:solidFill>
              </a:rPr>
              <a:t>❌ Customer experience is degraded</a:t>
            </a:r>
          </a:p>
          <a:p>
            <a:r>
              <a:rPr lang="en-IN" dirty="0">
                <a:solidFill>
                  <a:schemeClr val="tx1"/>
                </a:solidFill>
              </a:rPr>
              <a:t>❌ Engineers investigate after complaints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4F835-76DC-436A-CB36-40E903788D67}"/>
              </a:ext>
            </a:extLst>
          </p:cNvPr>
          <p:cNvSpPr/>
          <p:nvPr/>
        </p:nvSpPr>
        <p:spPr>
          <a:xfrm>
            <a:off x="7754145" y="1617997"/>
            <a:ext cx="4513007" cy="5191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With </a:t>
            </a:r>
            <a:r>
              <a:rPr lang="en-IN" b="1" dirty="0" err="1">
                <a:solidFill>
                  <a:schemeClr val="bg1"/>
                </a:solidFill>
              </a:rPr>
              <a:t>AutoHealAI</a:t>
            </a:r>
            <a:r>
              <a:rPr lang="en-IN" b="1" dirty="0">
                <a:solidFill>
                  <a:schemeClr val="bg1"/>
                </a:solidFill>
              </a:rPr>
              <a:t> (Self-Healing)</a:t>
            </a:r>
          </a:p>
          <a:p>
            <a:r>
              <a:rPr lang="en-IN" b="1" dirty="0">
                <a:solidFill>
                  <a:schemeClr val="bg1"/>
                </a:solidFill>
              </a:rPr>
              <a:t>Example 2</a:t>
            </a:r>
          </a:p>
          <a:p>
            <a:r>
              <a:rPr lang="en-IN" dirty="0">
                <a:solidFill>
                  <a:schemeClr val="bg1"/>
                </a:solidFill>
              </a:rPr>
              <a:t>User asks:</a:t>
            </a:r>
          </a:p>
          <a:p>
            <a:r>
              <a:rPr lang="en-IN" dirty="0"/>
              <a:t>"Weather forecast for Bangalore“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  <a:highlight>
                  <a:srgbClr val="000000"/>
                </a:highlight>
              </a:rPr>
              <a:t>Workflow:</a:t>
            </a:r>
          </a:p>
          <a:p>
            <a:endParaRPr lang="en-IN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Monitoring Agent detects slow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Diagnosis Agent identifies high CPU utilization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Healing Agent scales service or clears overloaded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Validation Agent performs health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API response time returns to normal</a:t>
            </a:r>
          </a:p>
          <a:p>
            <a:r>
              <a:rPr lang="en-IN" dirty="0"/>
              <a:t>Result</a:t>
            </a:r>
          </a:p>
          <a:p>
            <a:r>
              <a:rPr lang="en-IN" dirty="0"/>
              <a:t>✅ Fast response restored</a:t>
            </a:r>
          </a:p>
          <a:p>
            <a:r>
              <a:rPr lang="en-IN" dirty="0"/>
              <a:t>✅ No service interruption</a:t>
            </a:r>
          </a:p>
        </p:txBody>
      </p:sp>
    </p:spTree>
    <p:extLst>
      <p:ext uri="{BB962C8B-B14F-4D97-AF65-F5344CB8AC3E}">
        <p14:creationId xmlns:p14="http://schemas.microsoft.com/office/powerpoint/2010/main" val="3563623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953A2-7FA8-AABD-D65E-DD91F377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0B069B-109C-4526-7BA2-8772DE319C4C}"/>
              </a:ext>
            </a:extLst>
          </p:cNvPr>
          <p:cNvSpPr txBox="1"/>
          <p:nvPr/>
        </p:nvSpPr>
        <p:spPr>
          <a:xfrm>
            <a:off x="1540157" y="570861"/>
            <a:ext cx="5058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Project Goals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998688-88B0-8EC8-4BB3-F2022180A00F}"/>
              </a:ext>
            </a:extLst>
          </p:cNvPr>
          <p:cNvCxnSpPr/>
          <p:nvPr/>
        </p:nvCxnSpPr>
        <p:spPr>
          <a:xfrm>
            <a:off x="1599153" y="1190292"/>
            <a:ext cx="103386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1B0574-1C30-3D0A-D321-4C592864236F}"/>
              </a:ext>
            </a:extLst>
          </p:cNvPr>
          <p:cNvSpPr txBox="1"/>
          <p:nvPr/>
        </p:nvSpPr>
        <p:spPr>
          <a:xfrm>
            <a:off x="1599153" y="1588500"/>
            <a:ext cx="5206180" cy="5910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1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Continuous Monitoring</a:t>
            </a:r>
          </a:p>
          <a:p>
            <a:r>
              <a:rPr lang="en-IN" dirty="0"/>
              <a:t>Monitor Weather APIs 24×7 to detect failures, slow responses, and abnormal </a:t>
            </a:r>
            <a:r>
              <a:rPr lang="en-IN" dirty="0" err="1"/>
              <a:t>behavior</a:t>
            </a:r>
            <a:r>
              <a:rPr lang="en-IN" dirty="0"/>
              <a:t> in real time.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2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Intelligent Diagnosis</a:t>
            </a:r>
          </a:p>
          <a:p>
            <a:r>
              <a:rPr lang="en-IN" dirty="0" err="1"/>
              <a:t>Analyze</a:t>
            </a:r>
            <a:r>
              <a:rPr lang="en-IN" dirty="0"/>
              <a:t> application logs, metrics, and health data to determine the actual root cause of incidents.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3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Automated Recovery</a:t>
            </a:r>
          </a:p>
          <a:p>
            <a:r>
              <a:rPr lang="en-IN" dirty="0"/>
              <a:t>Execute predefined healing actions such as restarting services or recovering failed containers automatically.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53FB4-9B8C-ABD5-689A-AF058C46E86B}"/>
              </a:ext>
            </a:extLst>
          </p:cNvPr>
          <p:cNvSpPr txBox="1"/>
          <p:nvPr/>
        </p:nvSpPr>
        <p:spPr>
          <a:xfrm>
            <a:off x="7572247" y="1588499"/>
            <a:ext cx="5029200" cy="468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4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Health Verification</a:t>
            </a:r>
          </a:p>
          <a:p>
            <a:r>
              <a:rPr lang="en-IN" dirty="0"/>
              <a:t>Validate that the Weather API is functioning correctly after recovery before serving users.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5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Continuous Learning</a:t>
            </a:r>
          </a:p>
          <a:p>
            <a:r>
              <a:rPr lang="en-IN" dirty="0"/>
              <a:t>Capture incident history and successful recovery patterns to improve future decision-making.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Goal 6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Operational Excellence</a:t>
            </a:r>
          </a:p>
          <a:p>
            <a:r>
              <a:rPr lang="en-IN" dirty="0"/>
              <a:t>Reduce downtime, minimize manual effort, and improve overall service reliability.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4E8DDC-C001-3B11-2361-48A865346DA6}"/>
              </a:ext>
            </a:extLst>
          </p:cNvPr>
          <p:cNvCxnSpPr/>
          <p:nvPr/>
        </p:nvCxnSpPr>
        <p:spPr>
          <a:xfrm>
            <a:off x="7070802" y="1632747"/>
            <a:ext cx="0" cy="395256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50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88096-91F9-3BA3-E5B7-5C4A1CCC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0A8426-4DD7-8A6A-F2C1-424AE7F81647}"/>
              </a:ext>
            </a:extLst>
          </p:cNvPr>
          <p:cNvSpPr txBox="1"/>
          <p:nvPr/>
        </p:nvSpPr>
        <p:spPr>
          <a:xfrm>
            <a:off x="1495912" y="570861"/>
            <a:ext cx="5058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Project Features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4EFBAB-D02E-4F30-95AC-BEB6F3546828}"/>
              </a:ext>
            </a:extLst>
          </p:cNvPr>
          <p:cNvCxnSpPr/>
          <p:nvPr/>
        </p:nvCxnSpPr>
        <p:spPr>
          <a:xfrm>
            <a:off x="1599153" y="1190292"/>
            <a:ext cx="103386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9A7425-C8A6-4DA0-E5F0-11B15AD55E54}"/>
              </a:ext>
            </a:extLst>
          </p:cNvPr>
          <p:cNvSpPr txBox="1"/>
          <p:nvPr/>
        </p:nvSpPr>
        <p:spPr>
          <a:xfrm>
            <a:off x="1599153" y="1348060"/>
            <a:ext cx="89817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Key Features</a:t>
            </a:r>
          </a:p>
          <a:p>
            <a:endParaRPr lang="en-IN" sz="1400" b="1" dirty="0"/>
          </a:p>
          <a:p>
            <a:r>
              <a:rPr lang="en-IN" sz="1400" b="1" dirty="0"/>
              <a:t>Interactive Streamlit Chat Interface                                                                    </a:t>
            </a:r>
            <a:r>
              <a:rPr lang="en-IN" sz="1400" b="1" dirty="0" err="1"/>
              <a:t>LangSmith</a:t>
            </a:r>
            <a:r>
              <a:rPr lang="en-IN" sz="1400" b="1" dirty="0"/>
              <a:t> Observability &amp; Monitoring</a:t>
            </a:r>
          </a:p>
          <a:p>
            <a:br>
              <a:rPr lang="en-IN" sz="1400" b="1" dirty="0"/>
            </a:br>
            <a:r>
              <a:rPr lang="en-IN" sz="1400" b="1" dirty="0"/>
              <a:t>Weather API Integration                                                                                         Audit Logging &amp; Middleware</a:t>
            </a:r>
          </a:p>
          <a:p>
            <a:br>
              <a:rPr lang="en-IN" sz="1400" b="1" dirty="0"/>
            </a:br>
            <a:r>
              <a:rPr lang="en-IN" sz="1400" b="1" dirty="0"/>
              <a:t>Real-Time Health Monitoring Agent                                                                     Docker-Based Deployment</a:t>
            </a:r>
          </a:p>
          <a:p>
            <a:br>
              <a:rPr lang="en-IN" sz="1400" b="1" dirty="0"/>
            </a:br>
            <a:r>
              <a:rPr lang="en-IN" sz="1400" b="1" dirty="0"/>
              <a:t>AI-Based Diagnosis Agent</a:t>
            </a:r>
          </a:p>
          <a:p>
            <a:br>
              <a:rPr lang="en-IN" sz="1400" b="1" dirty="0"/>
            </a:br>
            <a:r>
              <a:rPr lang="en-IN" sz="1400" b="1" dirty="0"/>
              <a:t>Root Cause Analysis Agent</a:t>
            </a:r>
          </a:p>
          <a:p>
            <a:br>
              <a:rPr lang="en-IN" sz="1400" b="1" dirty="0"/>
            </a:br>
            <a:r>
              <a:rPr lang="en-IN" sz="1400" b="1" dirty="0"/>
              <a:t>Automated Healing Agent</a:t>
            </a:r>
          </a:p>
          <a:p>
            <a:br>
              <a:rPr lang="en-IN" sz="1400" b="1" dirty="0"/>
            </a:br>
            <a:r>
              <a:rPr lang="en-IN" sz="1400" b="1" dirty="0"/>
              <a:t>Recovery Validation Agent</a:t>
            </a:r>
          </a:p>
          <a:p>
            <a:br>
              <a:rPr lang="en-IN" sz="1400" b="1" dirty="0"/>
            </a:br>
            <a:r>
              <a:rPr lang="en-IN" sz="1400" b="1" dirty="0"/>
              <a:t>Learning Agent for Knowledge Retention</a:t>
            </a:r>
          </a:p>
          <a:p>
            <a:br>
              <a:rPr lang="en-IN" sz="1400" b="1" dirty="0"/>
            </a:br>
            <a:r>
              <a:rPr lang="en-IN" sz="1400" b="1" dirty="0"/>
              <a:t>GraphRAG Knowledge Base (Neo4j + FAISS)</a:t>
            </a:r>
          </a:p>
          <a:p>
            <a:br>
              <a:rPr lang="en-IN" sz="1400" dirty="0"/>
            </a:br>
            <a:br>
              <a:rPr lang="en-IN" sz="1400" dirty="0"/>
            </a:br>
            <a:endParaRPr lang="en-IN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36F02D-64E3-CAF2-CEF8-308D35277354}"/>
              </a:ext>
            </a:extLst>
          </p:cNvPr>
          <p:cNvCxnSpPr/>
          <p:nvPr/>
        </p:nvCxnSpPr>
        <p:spPr>
          <a:xfrm>
            <a:off x="2454557" y="2016202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C55DA3-558F-0320-34A4-9B91AC16A29C}"/>
              </a:ext>
            </a:extLst>
          </p:cNvPr>
          <p:cNvCxnSpPr/>
          <p:nvPr/>
        </p:nvCxnSpPr>
        <p:spPr>
          <a:xfrm>
            <a:off x="2459473" y="2473402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0E2827-8121-36B4-D241-565D973E0119}"/>
              </a:ext>
            </a:extLst>
          </p:cNvPr>
          <p:cNvCxnSpPr/>
          <p:nvPr/>
        </p:nvCxnSpPr>
        <p:spPr>
          <a:xfrm>
            <a:off x="2454557" y="2861776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443E8D-70DB-A268-A6F8-6B68CBED6ED2}"/>
              </a:ext>
            </a:extLst>
          </p:cNvPr>
          <p:cNvCxnSpPr/>
          <p:nvPr/>
        </p:nvCxnSpPr>
        <p:spPr>
          <a:xfrm>
            <a:off x="2469305" y="3690144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1B4015-DFE6-47F6-BB72-16BC4A5E4418}"/>
              </a:ext>
            </a:extLst>
          </p:cNvPr>
          <p:cNvCxnSpPr/>
          <p:nvPr/>
        </p:nvCxnSpPr>
        <p:spPr>
          <a:xfrm>
            <a:off x="2454557" y="3309144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5694DD-1520-F4F3-450E-9A5FB16D3DEF}"/>
              </a:ext>
            </a:extLst>
          </p:cNvPr>
          <p:cNvCxnSpPr/>
          <p:nvPr/>
        </p:nvCxnSpPr>
        <p:spPr>
          <a:xfrm>
            <a:off x="2469305" y="4194048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CFE233-9D8E-51DB-4A7E-2D4A8981CC3C}"/>
              </a:ext>
            </a:extLst>
          </p:cNvPr>
          <p:cNvCxnSpPr/>
          <p:nvPr/>
        </p:nvCxnSpPr>
        <p:spPr>
          <a:xfrm>
            <a:off x="2484053" y="4641415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EE0C91-524B-2692-9F73-43B910780B45}"/>
              </a:ext>
            </a:extLst>
          </p:cNvPr>
          <p:cNvCxnSpPr/>
          <p:nvPr/>
        </p:nvCxnSpPr>
        <p:spPr>
          <a:xfrm>
            <a:off x="2484053" y="5074034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6F9CF5-860F-4B56-024A-6A75FC67AE6C}"/>
              </a:ext>
            </a:extLst>
          </p:cNvPr>
          <p:cNvCxnSpPr/>
          <p:nvPr/>
        </p:nvCxnSpPr>
        <p:spPr>
          <a:xfrm>
            <a:off x="8181847" y="2016202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882826-D8B2-093A-FCA8-EDF393154283}"/>
              </a:ext>
            </a:extLst>
          </p:cNvPr>
          <p:cNvCxnSpPr/>
          <p:nvPr/>
        </p:nvCxnSpPr>
        <p:spPr>
          <a:xfrm>
            <a:off x="8181847" y="2473402"/>
            <a:ext cx="0" cy="2212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188BEC-EE14-B1CB-166A-479F513B6092}"/>
              </a:ext>
            </a:extLst>
          </p:cNvPr>
          <p:cNvCxnSpPr/>
          <p:nvPr/>
        </p:nvCxnSpPr>
        <p:spPr>
          <a:xfrm>
            <a:off x="4902789" y="5354252"/>
            <a:ext cx="1135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F22C2A-8326-6D5C-C045-E005D9AFEECA}"/>
              </a:ext>
            </a:extLst>
          </p:cNvPr>
          <p:cNvCxnSpPr>
            <a:cxnSpLocks/>
          </p:cNvCxnSpPr>
          <p:nvPr/>
        </p:nvCxnSpPr>
        <p:spPr>
          <a:xfrm>
            <a:off x="5981879" y="1912145"/>
            <a:ext cx="56536" cy="34566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7CDD9B-EE19-2305-B3D4-9E7297842DAC}"/>
              </a:ext>
            </a:extLst>
          </p:cNvPr>
          <p:cNvCxnSpPr/>
          <p:nvPr/>
        </p:nvCxnSpPr>
        <p:spPr>
          <a:xfrm>
            <a:off x="5981880" y="1912144"/>
            <a:ext cx="8578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495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6954E67C-AB6D-AB75-4CC2-613F62C850F9}"/>
              </a:ext>
            </a:extLst>
          </p:cNvPr>
          <p:cNvSpPr/>
          <p:nvPr/>
        </p:nvSpPr>
        <p:spPr>
          <a:xfrm>
            <a:off x="3200620" y="8888"/>
            <a:ext cx="7565923" cy="4424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Weather API Self-Healing- Architecture Diagram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F431A1-AA9B-2CC5-E3B9-232222E082B8}"/>
              </a:ext>
            </a:extLst>
          </p:cNvPr>
          <p:cNvSpPr/>
          <p:nvPr/>
        </p:nvSpPr>
        <p:spPr>
          <a:xfrm>
            <a:off x="322639" y="744621"/>
            <a:ext cx="412955" cy="1622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531246-CB87-67A8-0C1A-93AEB80687F2}"/>
              </a:ext>
            </a:extLst>
          </p:cNvPr>
          <p:cNvSpPr txBox="1"/>
          <p:nvPr/>
        </p:nvSpPr>
        <p:spPr>
          <a:xfrm>
            <a:off x="735594" y="671850"/>
            <a:ext cx="1017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5">
                    <a:lumMod val="75000"/>
                  </a:schemeClr>
                </a:solidFill>
              </a:rPr>
              <a:t>User Layer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80EDC6-9454-4C54-ADAB-CF2C90D6BDA6}"/>
              </a:ext>
            </a:extLst>
          </p:cNvPr>
          <p:cNvSpPr/>
          <p:nvPr/>
        </p:nvSpPr>
        <p:spPr>
          <a:xfrm>
            <a:off x="573355" y="1276338"/>
            <a:ext cx="1976283" cy="5837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Streamlit UI</a:t>
            </a:r>
          </a:p>
          <a:p>
            <a:pPr algn="ctr"/>
            <a:r>
              <a:rPr lang="en-IN" sz="1300" dirty="0"/>
              <a:t>Chat Interface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781081-3BEC-819D-AFEC-116C068DA38F}"/>
              </a:ext>
            </a:extLst>
          </p:cNvPr>
          <p:cNvSpPr/>
          <p:nvPr/>
        </p:nvSpPr>
        <p:spPr>
          <a:xfrm>
            <a:off x="3080582" y="1276338"/>
            <a:ext cx="2054941" cy="5837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288000" rtlCol="0" anchor="ctr"/>
          <a:lstStyle/>
          <a:p>
            <a:pPr algn="ctr"/>
            <a:r>
              <a:rPr lang="en-IN" b="1" dirty="0"/>
              <a:t>Weather API</a:t>
            </a:r>
          </a:p>
          <a:p>
            <a:pPr algn="ctr"/>
            <a:endParaRPr lang="en-IN" b="1" dirty="0"/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32189C78-5683-9E5D-E9D7-D0D79ABA1080}"/>
              </a:ext>
            </a:extLst>
          </p:cNvPr>
          <p:cNvSpPr/>
          <p:nvPr/>
        </p:nvSpPr>
        <p:spPr>
          <a:xfrm>
            <a:off x="1664733" y="1871216"/>
            <a:ext cx="113071" cy="398690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AF6AFA2F-96DB-B8C2-1046-AE87238AC54A}"/>
              </a:ext>
            </a:extLst>
          </p:cNvPr>
          <p:cNvSpPr/>
          <p:nvPr/>
        </p:nvSpPr>
        <p:spPr>
          <a:xfrm>
            <a:off x="3741800" y="1864088"/>
            <a:ext cx="113071" cy="398690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2B111547-0D69-EBD1-7B2F-396922348022}"/>
              </a:ext>
            </a:extLst>
          </p:cNvPr>
          <p:cNvSpPr/>
          <p:nvPr/>
        </p:nvSpPr>
        <p:spPr>
          <a:xfrm rot="5400000">
            <a:off x="2746933" y="1302871"/>
            <a:ext cx="113071" cy="530656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A7B494-8B28-4B06-2D72-920A130D3A95}"/>
              </a:ext>
            </a:extLst>
          </p:cNvPr>
          <p:cNvSpPr/>
          <p:nvPr/>
        </p:nvSpPr>
        <p:spPr>
          <a:xfrm>
            <a:off x="573355" y="2281063"/>
            <a:ext cx="4562167" cy="5322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ABACC8-C833-0B89-103C-D74EB631F73C}"/>
              </a:ext>
            </a:extLst>
          </p:cNvPr>
          <p:cNvCxnSpPr>
            <a:cxnSpLocks/>
            <a:stCxn id="3" idx="1"/>
            <a:endCxn id="3" idx="3"/>
          </p:cNvCxnSpPr>
          <p:nvPr/>
        </p:nvCxnSpPr>
        <p:spPr>
          <a:xfrm>
            <a:off x="573355" y="2547196"/>
            <a:ext cx="4562167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9AA6A3-6FCD-4ADD-BE5C-3053FD9E178F}"/>
              </a:ext>
            </a:extLst>
          </p:cNvPr>
          <p:cNvSpPr txBox="1"/>
          <p:nvPr/>
        </p:nvSpPr>
        <p:spPr>
          <a:xfrm>
            <a:off x="2291171" y="2243140"/>
            <a:ext cx="93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Fast API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159688-E70D-7FA7-37D4-51BC77912D1E}"/>
              </a:ext>
            </a:extLst>
          </p:cNvPr>
          <p:cNvSpPr txBox="1"/>
          <p:nvPr/>
        </p:nvSpPr>
        <p:spPr>
          <a:xfrm>
            <a:off x="1958783" y="2516709"/>
            <a:ext cx="1966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Rest API Endpoints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FB2F0D-521E-5145-F7C2-2DE080B727CB}"/>
              </a:ext>
            </a:extLst>
          </p:cNvPr>
          <p:cNvSpPr/>
          <p:nvPr/>
        </p:nvSpPr>
        <p:spPr>
          <a:xfrm>
            <a:off x="1818793" y="744621"/>
            <a:ext cx="468631" cy="1441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6D813D-2E7B-AF28-A06B-B3901286B67E}"/>
              </a:ext>
            </a:extLst>
          </p:cNvPr>
          <p:cNvSpPr txBox="1"/>
          <p:nvPr/>
        </p:nvSpPr>
        <p:spPr>
          <a:xfrm>
            <a:off x="2287423" y="664623"/>
            <a:ext cx="1612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6">
                    <a:lumMod val="75000"/>
                  </a:schemeClr>
                </a:solidFill>
              </a:rPr>
              <a:t>API &amp; Service Layer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72D5F42-7D9A-CE29-2457-A23C44E7AB3D}"/>
              </a:ext>
            </a:extLst>
          </p:cNvPr>
          <p:cNvSpPr/>
          <p:nvPr/>
        </p:nvSpPr>
        <p:spPr>
          <a:xfrm>
            <a:off x="3944990" y="758212"/>
            <a:ext cx="468631" cy="1441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07D64CE-2ABD-D34C-27AA-E2881E5207B9}"/>
              </a:ext>
            </a:extLst>
          </p:cNvPr>
          <p:cNvSpPr/>
          <p:nvPr/>
        </p:nvSpPr>
        <p:spPr>
          <a:xfrm>
            <a:off x="322638" y="3370605"/>
            <a:ext cx="5387668" cy="1066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A7002-D7DF-14E4-E90D-3194DC3FCBEE}"/>
              </a:ext>
            </a:extLst>
          </p:cNvPr>
          <p:cNvSpPr txBox="1"/>
          <p:nvPr/>
        </p:nvSpPr>
        <p:spPr>
          <a:xfrm>
            <a:off x="4413621" y="672087"/>
            <a:ext cx="165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2">
                    <a:lumMod val="75000"/>
                  </a:schemeClr>
                </a:solidFill>
              </a:rPr>
              <a:t>Middleware Layer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638A13-5C8F-47C2-3016-B479DA4EA0FB}"/>
              </a:ext>
            </a:extLst>
          </p:cNvPr>
          <p:cNvSpPr/>
          <p:nvPr/>
        </p:nvSpPr>
        <p:spPr>
          <a:xfrm>
            <a:off x="564266" y="3464216"/>
            <a:ext cx="1191330" cy="45732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Logging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EF63DC7-0F07-E838-E8EB-59B463A0F28F}"/>
              </a:ext>
            </a:extLst>
          </p:cNvPr>
          <p:cNvSpPr/>
          <p:nvPr/>
        </p:nvSpPr>
        <p:spPr>
          <a:xfrm>
            <a:off x="1753232" y="3464216"/>
            <a:ext cx="1323177" cy="4814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Monitoring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A69413-87CD-7B43-163B-351AD133BCDC}"/>
              </a:ext>
            </a:extLst>
          </p:cNvPr>
          <p:cNvSpPr/>
          <p:nvPr/>
        </p:nvSpPr>
        <p:spPr>
          <a:xfrm>
            <a:off x="3093873" y="3460330"/>
            <a:ext cx="1136572" cy="4719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Audit Trail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78C2DFC-6607-DF3F-AC22-FA58F0A4CA80}"/>
              </a:ext>
            </a:extLst>
          </p:cNvPr>
          <p:cNvSpPr/>
          <p:nvPr/>
        </p:nvSpPr>
        <p:spPr>
          <a:xfrm>
            <a:off x="4265375" y="3469585"/>
            <a:ext cx="1221065" cy="47658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Error Handling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EB210F-3019-0F51-480A-C588F437F2D9}"/>
              </a:ext>
            </a:extLst>
          </p:cNvPr>
          <p:cNvCxnSpPr>
            <a:cxnSpLocks/>
          </p:cNvCxnSpPr>
          <p:nvPr/>
        </p:nvCxnSpPr>
        <p:spPr>
          <a:xfrm>
            <a:off x="322638" y="4018305"/>
            <a:ext cx="538766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BD3FAE7-1EB3-314A-274E-79DFE43BA81A}"/>
              </a:ext>
            </a:extLst>
          </p:cNvPr>
          <p:cNvCxnSpPr/>
          <p:nvPr/>
        </p:nvCxnSpPr>
        <p:spPr>
          <a:xfrm>
            <a:off x="4770506" y="2813329"/>
            <a:ext cx="0" cy="6415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D33EF87-FF66-F07A-1983-A1092CA261D4}"/>
              </a:ext>
            </a:extLst>
          </p:cNvPr>
          <p:cNvCxnSpPr/>
          <p:nvPr/>
        </p:nvCxnSpPr>
        <p:spPr>
          <a:xfrm>
            <a:off x="3659279" y="2813329"/>
            <a:ext cx="0" cy="6415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2504DBB-D8FC-61BB-B774-CDD62555A859}"/>
              </a:ext>
            </a:extLst>
          </p:cNvPr>
          <p:cNvCxnSpPr/>
          <p:nvPr/>
        </p:nvCxnSpPr>
        <p:spPr>
          <a:xfrm>
            <a:off x="2385446" y="2824485"/>
            <a:ext cx="0" cy="6415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C3F03D-A1AB-9E2C-CB2A-193E105C02CA}"/>
              </a:ext>
            </a:extLst>
          </p:cNvPr>
          <p:cNvCxnSpPr/>
          <p:nvPr/>
        </p:nvCxnSpPr>
        <p:spPr>
          <a:xfrm>
            <a:off x="1151006" y="2813329"/>
            <a:ext cx="0" cy="6415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F3D891B-DC1C-CF0D-7210-17B212856D1C}"/>
              </a:ext>
            </a:extLst>
          </p:cNvPr>
          <p:cNvSpPr txBox="1"/>
          <p:nvPr/>
        </p:nvSpPr>
        <p:spPr>
          <a:xfrm>
            <a:off x="2287423" y="4023269"/>
            <a:ext cx="1550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Middleware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168F5C7-9E8D-7933-B50D-7D49201AC416}"/>
              </a:ext>
            </a:extLst>
          </p:cNvPr>
          <p:cNvSpPr/>
          <p:nvPr/>
        </p:nvSpPr>
        <p:spPr>
          <a:xfrm>
            <a:off x="322638" y="4972437"/>
            <a:ext cx="6139485" cy="1444877"/>
          </a:xfrm>
          <a:prstGeom prst="round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364406C-28B6-F820-5BBD-802C9D06AB62}"/>
              </a:ext>
            </a:extLst>
          </p:cNvPr>
          <p:cNvSpPr/>
          <p:nvPr/>
        </p:nvSpPr>
        <p:spPr>
          <a:xfrm>
            <a:off x="6003856" y="758212"/>
            <a:ext cx="458266" cy="144134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EA65A7-555F-A262-791D-43B83E7A91E9}"/>
              </a:ext>
            </a:extLst>
          </p:cNvPr>
          <p:cNvSpPr txBox="1"/>
          <p:nvPr/>
        </p:nvSpPr>
        <p:spPr>
          <a:xfrm>
            <a:off x="6442457" y="662800"/>
            <a:ext cx="1725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Graudrails Layer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1978A1D-434C-14CB-7A66-DE553C1F734F}"/>
              </a:ext>
            </a:extLst>
          </p:cNvPr>
          <p:cNvSpPr/>
          <p:nvPr/>
        </p:nvSpPr>
        <p:spPr>
          <a:xfrm>
            <a:off x="438924" y="5845580"/>
            <a:ext cx="1979145" cy="532267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Input Validation &amp; Sanitization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D8DED02-3B2B-2D90-1BA5-37AD6C1A3906}"/>
              </a:ext>
            </a:extLst>
          </p:cNvPr>
          <p:cNvSpPr/>
          <p:nvPr/>
        </p:nvSpPr>
        <p:spPr>
          <a:xfrm>
            <a:off x="2397730" y="5845579"/>
            <a:ext cx="1979145" cy="532267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PII Detection &amp; Protection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3EB955B-8583-C268-8557-3F63A311FE11}"/>
              </a:ext>
            </a:extLst>
          </p:cNvPr>
          <p:cNvSpPr/>
          <p:nvPr/>
        </p:nvSpPr>
        <p:spPr>
          <a:xfrm>
            <a:off x="4364673" y="5852634"/>
            <a:ext cx="1979145" cy="532267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Hallucination &amp; Policy Check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7B897A4-539C-8215-A3D5-4D6AA9AD8DA7}"/>
              </a:ext>
            </a:extLst>
          </p:cNvPr>
          <p:cNvCxnSpPr>
            <a:cxnSpLocks/>
          </p:cNvCxnSpPr>
          <p:nvPr/>
        </p:nvCxnSpPr>
        <p:spPr>
          <a:xfrm>
            <a:off x="322638" y="5753867"/>
            <a:ext cx="6139485" cy="0"/>
          </a:xfrm>
          <a:prstGeom prst="line">
            <a:avLst/>
          </a:prstGeom>
          <a:ln w="28575">
            <a:solidFill>
              <a:srgbClr val="99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9876199-137C-861C-C7A1-18904FC1A17F}"/>
              </a:ext>
            </a:extLst>
          </p:cNvPr>
          <p:cNvSpPr txBox="1"/>
          <p:nvPr/>
        </p:nvSpPr>
        <p:spPr>
          <a:xfrm>
            <a:off x="1818792" y="5064725"/>
            <a:ext cx="3667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           Guardrails Layer</a:t>
            </a:r>
          </a:p>
          <a:p>
            <a:r>
              <a:rPr lang="en-IN" sz="1600" dirty="0"/>
              <a:t>(Ensure safe, valid &amp; reliable operations)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D89CA83-5BF1-1EF3-50D5-A27EBDCC7305}"/>
              </a:ext>
            </a:extLst>
          </p:cNvPr>
          <p:cNvCxnSpPr>
            <a:stCxn id="42" idx="2"/>
          </p:cNvCxnSpPr>
          <p:nvPr/>
        </p:nvCxnSpPr>
        <p:spPr>
          <a:xfrm>
            <a:off x="3062636" y="4448337"/>
            <a:ext cx="6161" cy="4991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7EE90B5-C360-7554-CF5D-EF04E5334EA6}"/>
              </a:ext>
            </a:extLst>
          </p:cNvPr>
          <p:cNvSpPr/>
          <p:nvPr/>
        </p:nvSpPr>
        <p:spPr>
          <a:xfrm>
            <a:off x="7049284" y="1276339"/>
            <a:ext cx="2355066" cy="4890252"/>
          </a:xfrm>
          <a:prstGeom prst="roundRect">
            <a:avLst/>
          </a:prstGeom>
          <a:solidFill>
            <a:srgbClr val="FF9999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1FF2C14-0F88-0ED2-7847-0CBA0678A8E3}"/>
              </a:ext>
            </a:extLst>
          </p:cNvPr>
          <p:cNvCxnSpPr>
            <a:stCxn id="43" idx="3"/>
          </p:cNvCxnSpPr>
          <p:nvPr/>
        </p:nvCxnSpPr>
        <p:spPr>
          <a:xfrm>
            <a:off x="6462122" y="5694875"/>
            <a:ext cx="232434" cy="161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F02D8BB-1DAC-C4C5-A71D-E04144C4FF70}"/>
              </a:ext>
            </a:extLst>
          </p:cNvPr>
          <p:cNvCxnSpPr>
            <a:cxnSpLocks/>
          </p:cNvCxnSpPr>
          <p:nvPr/>
        </p:nvCxnSpPr>
        <p:spPr>
          <a:xfrm>
            <a:off x="6675404" y="2943011"/>
            <a:ext cx="19152" cy="27518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10B61B4-51B5-550A-A993-2BD7C2622C40}"/>
              </a:ext>
            </a:extLst>
          </p:cNvPr>
          <p:cNvCxnSpPr>
            <a:cxnSpLocks/>
          </p:cNvCxnSpPr>
          <p:nvPr/>
        </p:nvCxnSpPr>
        <p:spPr>
          <a:xfrm>
            <a:off x="6675404" y="2943011"/>
            <a:ext cx="3738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CB88D90-9BBE-B696-B67E-88A6BE010C15}"/>
              </a:ext>
            </a:extLst>
          </p:cNvPr>
          <p:cNvSpPr/>
          <p:nvPr/>
        </p:nvSpPr>
        <p:spPr>
          <a:xfrm>
            <a:off x="7100843" y="1511663"/>
            <a:ext cx="2251948" cy="93345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AI Agent Orchestration Layer</a:t>
            </a:r>
          </a:p>
          <a:p>
            <a:pPr algn="ctr"/>
            <a:r>
              <a:rPr lang="en-IN" sz="1600" dirty="0"/>
              <a:t>(</a:t>
            </a:r>
            <a:r>
              <a:rPr lang="en-IN" sz="1600" dirty="0">
                <a:solidFill>
                  <a:srgbClr val="FF0000"/>
                </a:solidFill>
              </a:rPr>
              <a:t>LangGraph Supervisor</a:t>
            </a:r>
            <a:r>
              <a:rPr lang="en-IN" sz="1600" dirty="0"/>
              <a:t>)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6A9B6E5-E38E-9983-EAD4-CD0827F4019E}"/>
              </a:ext>
            </a:extLst>
          </p:cNvPr>
          <p:cNvSpPr/>
          <p:nvPr/>
        </p:nvSpPr>
        <p:spPr>
          <a:xfrm>
            <a:off x="7887065" y="763192"/>
            <a:ext cx="561908" cy="144187"/>
          </a:xfrm>
          <a:prstGeom prst="roundRect">
            <a:avLst/>
          </a:prstGeom>
          <a:solidFill>
            <a:srgbClr val="FF9999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2EB223A-7062-7080-63D6-48337F3D24A7}"/>
              </a:ext>
            </a:extLst>
          </p:cNvPr>
          <p:cNvSpPr txBox="1"/>
          <p:nvPr/>
        </p:nvSpPr>
        <p:spPr>
          <a:xfrm>
            <a:off x="8448974" y="671849"/>
            <a:ext cx="1264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Agents Layer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2FD0D7E-B6DE-9666-E169-3D83BA945E8F}"/>
              </a:ext>
            </a:extLst>
          </p:cNvPr>
          <p:cNvSpPr/>
          <p:nvPr/>
        </p:nvSpPr>
        <p:spPr>
          <a:xfrm>
            <a:off x="7100843" y="2618666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70C0"/>
                </a:solidFill>
              </a:rPr>
              <a:t>Monitoring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Agent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FAD1F2E-0FF1-986F-639B-80DDC8134350}"/>
              </a:ext>
            </a:extLst>
          </p:cNvPr>
          <p:cNvSpPr/>
          <p:nvPr/>
        </p:nvSpPr>
        <p:spPr>
          <a:xfrm>
            <a:off x="7110266" y="3156168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Diagnosis </a:t>
            </a:r>
          </a:p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Agent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CCFC87E-0998-62C4-11B6-F120A1882A6B}"/>
              </a:ext>
            </a:extLst>
          </p:cNvPr>
          <p:cNvSpPr/>
          <p:nvPr/>
        </p:nvSpPr>
        <p:spPr>
          <a:xfrm>
            <a:off x="7100843" y="3704939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Root Cause</a:t>
            </a:r>
          </a:p>
          <a:p>
            <a:pPr algn="ctr"/>
            <a:r>
              <a:rPr lang="en-IN" dirty="0">
                <a:solidFill>
                  <a:srgbClr val="002060"/>
                </a:solidFill>
              </a:rPr>
              <a:t>Agent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AF1F588-9ECC-2055-816D-2301139C7B1A}"/>
              </a:ext>
            </a:extLst>
          </p:cNvPr>
          <p:cNvSpPr/>
          <p:nvPr/>
        </p:nvSpPr>
        <p:spPr>
          <a:xfrm>
            <a:off x="7110278" y="4253669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Healing </a:t>
            </a:r>
          </a:p>
          <a:p>
            <a:pPr algn="ctr"/>
            <a:r>
              <a:rPr lang="en-IN" dirty="0">
                <a:solidFill>
                  <a:srgbClr val="FF0000"/>
                </a:solidFill>
              </a:rPr>
              <a:t>Agent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23AF3B0-9025-D3B1-619C-A9C892710BBB}"/>
              </a:ext>
            </a:extLst>
          </p:cNvPr>
          <p:cNvSpPr/>
          <p:nvPr/>
        </p:nvSpPr>
        <p:spPr>
          <a:xfrm>
            <a:off x="7112252" y="4793351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Validation </a:t>
            </a:r>
          </a:p>
          <a:p>
            <a:pPr algn="ctr"/>
            <a:r>
              <a:rPr lang="en-IN" dirty="0">
                <a:solidFill>
                  <a:srgbClr val="7030A0"/>
                </a:solidFill>
              </a:rPr>
              <a:t>Agent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3C85D73-3198-3392-92EF-2D3BDEB626E2}"/>
              </a:ext>
            </a:extLst>
          </p:cNvPr>
          <p:cNvSpPr/>
          <p:nvPr/>
        </p:nvSpPr>
        <p:spPr>
          <a:xfrm>
            <a:off x="7110266" y="5341460"/>
            <a:ext cx="2251948" cy="5141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A8069C"/>
                </a:solidFill>
              </a:rPr>
              <a:t>Learning</a:t>
            </a:r>
          </a:p>
          <a:p>
            <a:pPr algn="ctr"/>
            <a:r>
              <a:rPr lang="en-IN" dirty="0">
                <a:solidFill>
                  <a:srgbClr val="A8069C"/>
                </a:solidFill>
              </a:rPr>
              <a:t>Agent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FA19D4-6F34-3969-E484-77A9BE2647AC}"/>
              </a:ext>
            </a:extLst>
          </p:cNvPr>
          <p:cNvSpPr/>
          <p:nvPr/>
        </p:nvSpPr>
        <p:spPr>
          <a:xfrm>
            <a:off x="9612627" y="758159"/>
            <a:ext cx="561908" cy="144187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85D3C2-F791-4D8E-FD48-9598A53CB4E8}"/>
              </a:ext>
            </a:extLst>
          </p:cNvPr>
          <p:cNvSpPr/>
          <p:nvPr/>
        </p:nvSpPr>
        <p:spPr>
          <a:xfrm>
            <a:off x="10552478" y="1347934"/>
            <a:ext cx="2923805" cy="1168775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GraphRAG Engine</a:t>
            </a:r>
          </a:p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E26E7-EED3-641E-C3BD-5E31C83D9C6D}"/>
              </a:ext>
            </a:extLst>
          </p:cNvPr>
          <p:cNvSpPr txBox="1"/>
          <p:nvPr/>
        </p:nvSpPr>
        <p:spPr>
          <a:xfrm>
            <a:off x="10125933" y="681396"/>
            <a:ext cx="160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6">
                    <a:lumMod val="50000"/>
                  </a:schemeClr>
                </a:solidFill>
              </a:rPr>
              <a:t>Knowledge Layer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36881F-611E-CEA8-8C83-4603619C9743}"/>
              </a:ext>
            </a:extLst>
          </p:cNvPr>
          <p:cNvCxnSpPr>
            <a:cxnSpLocks/>
            <a:endCxn id="67" idx="3"/>
          </p:cNvCxnSpPr>
          <p:nvPr/>
        </p:nvCxnSpPr>
        <p:spPr>
          <a:xfrm flipH="1">
            <a:off x="9352791" y="2875762"/>
            <a:ext cx="53617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E4F3B8E-E80C-C443-85ED-990C89A70011}"/>
              </a:ext>
            </a:extLst>
          </p:cNvPr>
          <p:cNvCxnSpPr>
            <a:cxnSpLocks/>
          </p:cNvCxnSpPr>
          <p:nvPr/>
        </p:nvCxnSpPr>
        <p:spPr>
          <a:xfrm flipH="1" flipV="1">
            <a:off x="9350488" y="5597935"/>
            <a:ext cx="547706" cy="15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4109D28-331D-D54C-DB8F-9891F794F071}"/>
              </a:ext>
            </a:extLst>
          </p:cNvPr>
          <p:cNvCxnSpPr>
            <a:cxnSpLocks/>
          </p:cNvCxnSpPr>
          <p:nvPr/>
        </p:nvCxnSpPr>
        <p:spPr>
          <a:xfrm>
            <a:off x="9893580" y="1978388"/>
            <a:ext cx="4614" cy="36349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C007BD7-DB1E-6770-DEF7-E1C071A6FCE4}"/>
              </a:ext>
            </a:extLst>
          </p:cNvPr>
          <p:cNvCxnSpPr>
            <a:cxnSpLocks/>
          </p:cNvCxnSpPr>
          <p:nvPr/>
        </p:nvCxnSpPr>
        <p:spPr>
          <a:xfrm>
            <a:off x="9911868" y="1978388"/>
            <a:ext cx="6406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81617A8-5C86-4A65-8FE5-040AC11B51E6}"/>
              </a:ext>
            </a:extLst>
          </p:cNvPr>
          <p:cNvSpPr/>
          <p:nvPr/>
        </p:nvSpPr>
        <p:spPr>
          <a:xfrm>
            <a:off x="10668000" y="2017313"/>
            <a:ext cx="2705100" cy="427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300" dirty="0"/>
              <a:t>Neo4j (</a:t>
            </a:r>
            <a:r>
              <a:rPr lang="en-IN" sz="1300" dirty="0" err="1"/>
              <a:t>GraphDB</a:t>
            </a:r>
            <a:r>
              <a:rPr lang="en-IN" sz="1300" dirty="0"/>
              <a:t>) + FAISS(VectorDB)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E6B647B-6F75-1BBB-9717-2C7227A3E820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2001500" y="2516709"/>
            <a:ext cx="12881" cy="6234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92FF236B-BB69-D2CD-8D05-C6FE0F677A61}"/>
              </a:ext>
            </a:extLst>
          </p:cNvPr>
          <p:cNvSpPr/>
          <p:nvPr/>
        </p:nvSpPr>
        <p:spPr>
          <a:xfrm>
            <a:off x="10668000" y="3132855"/>
            <a:ext cx="2808283" cy="150810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8F43A5-D778-B287-00C6-0F766969BB1A}"/>
              </a:ext>
            </a:extLst>
          </p:cNvPr>
          <p:cNvSpPr txBox="1"/>
          <p:nvPr/>
        </p:nvSpPr>
        <p:spPr>
          <a:xfrm>
            <a:off x="11389126" y="2617843"/>
            <a:ext cx="7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LLM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8DC356C7-EE4C-CA2B-845A-BF4B43628863}"/>
              </a:ext>
            </a:extLst>
          </p:cNvPr>
          <p:cNvSpPr/>
          <p:nvPr/>
        </p:nvSpPr>
        <p:spPr>
          <a:xfrm>
            <a:off x="11593544" y="758159"/>
            <a:ext cx="561908" cy="1441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CC1F2B-76E8-88FA-856B-5A89F0E00B26}"/>
              </a:ext>
            </a:extLst>
          </p:cNvPr>
          <p:cNvSpPr txBox="1"/>
          <p:nvPr/>
        </p:nvSpPr>
        <p:spPr>
          <a:xfrm>
            <a:off x="12155452" y="681396"/>
            <a:ext cx="1759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Observability Layer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79205E-7D21-BB68-BFD9-3E539C12161E}"/>
              </a:ext>
            </a:extLst>
          </p:cNvPr>
          <p:cNvSpPr txBox="1"/>
          <p:nvPr/>
        </p:nvSpPr>
        <p:spPr>
          <a:xfrm>
            <a:off x="10991605" y="3156168"/>
            <a:ext cx="216107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Langsmith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Traces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Dashboards</a:t>
            </a:r>
            <a:endParaRPr lang="en-IN" dirty="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B0019B7-EB29-B4C2-0766-6C8D905DAD55}"/>
              </a:ext>
            </a:extLst>
          </p:cNvPr>
          <p:cNvCxnSpPr>
            <a:stCxn id="78" idx="2"/>
          </p:cNvCxnSpPr>
          <p:nvPr/>
        </p:nvCxnSpPr>
        <p:spPr>
          <a:xfrm>
            <a:off x="12072141" y="4387274"/>
            <a:ext cx="0" cy="9202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14DCE47-2614-4799-A0E4-CC0C7005E15B}"/>
              </a:ext>
            </a:extLst>
          </p:cNvPr>
          <p:cNvSpPr/>
          <p:nvPr/>
        </p:nvSpPr>
        <p:spPr>
          <a:xfrm>
            <a:off x="10668000" y="5341460"/>
            <a:ext cx="2808283" cy="8097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Deployment Layer</a:t>
            </a:r>
          </a:p>
          <a:p>
            <a:pPr algn="ctr"/>
            <a:r>
              <a:rPr lang="en-IN" b="1" dirty="0"/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184348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4E75FE3-379B-FB1B-4B11-A8A7601FA3AA}"/>
              </a:ext>
            </a:extLst>
          </p:cNvPr>
          <p:cNvSpPr/>
          <p:nvPr/>
        </p:nvSpPr>
        <p:spPr>
          <a:xfrm>
            <a:off x="283779" y="3209549"/>
            <a:ext cx="1895701" cy="514191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Weather API</a:t>
            </a:r>
          </a:p>
          <a:p>
            <a:pPr algn="ctr"/>
            <a:r>
              <a:rPr lang="en-IN" dirty="0">
                <a:solidFill>
                  <a:srgbClr val="002060"/>
                </a:solidFill>
              </a:rPr>
              <a:t>Request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6203F-9CE5-4F31-EC70-B84A2B8EA3A4}"/>
              </a:ext>
            </a:extLst>
          </p:cNvPr>
          <p:cNvSpPr/>
          <p:nvPr/>
        </p:nvSpPr>
        <p:spPr>
          <a:xfrm>
            <a:off x="3853468" y="2522500"/>
            <a:ext cx="2251948" cy="17352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70C0"/>
                </a:solidFill>
              </a:rPr>
              <a:t>1.</a:t>
            </a:r>
            <a:r>
              <a:rPr lang="en-IN" b="1" dirty="0">
                <a:solidFill>
                  <a:srgbClr val="0070C0"/>
                </a:solidFill>
              </a:rPr>
              <a:t>Monitoring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(Detect Failures)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CE76CA-84B6-DE08-40F0-AEDB8B20C975}"/>
              </a:ext>
            </a:extLst>
          </p:cNvPr>
          <p:cNvSpPr/>
          <p:nvPr/>
        </p:nvSpPr>
        <p:spPr>
          <a:xfrm>
            <a:off x="6375629" y="2522500"/>
            <a:ext cx="2251948" cy="173521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/>
                </a:solidFill>
              </a:rPr>
              <a:t>2. </a:t>
            </a:r>
            <a:r>
              <a:rPr lang="en-IN" b="1" dirty="0">
                <a:solidFill>
                  <a:schemeClr val="accent6"/>
                </a:solidFill>
              </a:rPr>
              <a:t>Diagnosis</a:t>
            </a:r>
          </a:p>
          <a:p>
            <a:pPr algn="ctr"/>
            <a:r>
              <a:rPr lang="en-IN" dirty="0">
                <a:solidFill>
                  <a:schemeClr val="accent6"/>
                </a:solidFill>
              </a:rPr>
              <a:t>(Analyse logs, metrics &amp;alerts)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A8B173-B38E-9893-2AAF-53EA42C66247}"/>
              </a:ext>
            </a:extLst>
          </p:cNvPr>
          <p:cNvSpPr/>
          <p:nvPr/>
        </p:nvSpPr>
        <p:spPr>
          <a:xfrm>
            <a:off x="8901584" y="2522500"/>
            <a:ext cx="2251948" cy="173521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3. </a:t>
            </a:r>
            <a:r>
              <a:rPr lang="en-IN" b="1" dirty="0">
                <a:solidFill>
                  <a:srgbClr val="FF0000"/>
                </a:solidFill>
              </a:rPr>
              <a:t>Healing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IN" dirty="0">
                <a:solidFill>
                  <a:srgbClr val="FF0000"/>
                </a:solidFill>
              </a:rPr>
              <a:t>(Perform recovery actions – Restart, scale, fix)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E4932E-B98C-4F5E-A35D-D79E2AD4ED94}"/>
              </a:ext>
            </a:extLst>
          </p:cNvPr>
          <p:cNvSpPr/>
          <p:nvPr/>
        </p:nvSpPr>
        <p:spPr>
          <a:xfrm>
            <a:off x="11437517" y="2522501"/>
            <a:ext cx="2105063" cy="173521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4. </a:t>
            </a:r>
            <a:r>
              <a:rPr lang="en-IN" b="1" dirty="0">
                <a:solidFill>
                  <a:srgbClr val="7030A0"/>
                </a:solidFill>
              </a:rPr>
              <a:t>Validation</a:t>
            </a:r>
            <a:r>
              <a:rPr lang="en-IN" dirty="0">
                <a:solidFill>
                  <a:srgbClr val="7030A0"/>
                </a:solidFill>
              </a:rPr>
              <a:t> </a:t>
            </a:r>
          </a:p>
          <a:p>
            <a:pPr algn="ctr"/>
            <a:r>
              <a:rPr lang="en-IN" dirty="0">
                <a:solidFill>
                  <a:srgbClr val="7030A0"/>
                </a:solidFill>
              </a:rPr>
              <a:t>(Health Check)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80F4A3-CD0E-E29C-3347-BB1BBE3FA8FB}"/>
              </a:ext>
            </a:extLst>
          </p:cNvPr>
          <p:cNvCxnSpPr>
            <a:stCxn id="5" idx="3"/>
          </p:cNvCxnSpPr>
          <p:nvPr/>
        </p:nvCxnSpPr>
        <p:spPr>
          <a:xfrm flipV="1">
            <a:off x="2179480" y="3466644"/>
            <a:ext cx="168307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16FA25-91C8-2E34-D82C-C279CC95D124}"/>
              </a:ext>
            </a:extLst>
          </p:cNvPr>
          <p:cNvSpPr txBox="1"/>
          <p:nvPr/>
        </p:nvSpPr>
        <p:spPr>
          <a:xfrm>
            <a:off x="2273503" y="3489135"/>
            <a:ext cx="1801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</a:rPr>
              <a:t>Weather API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F1306F-E101-268E-41CF-0CB862D5E680}"/>
              </a:ext>
            </a:extLst>
          </p:cNvPr>
          <p:cNvCxnSpPr/>
          <p:nvPr/>
        </p:nvCxnSpPr>
        <p:spPr>
          <a:xfrm>
            <a:off x="2995454" y="1954942"/>
            <a:ext cx="0" cy="151170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96E6D1-B4E6-D757-07D3-E78383A57750}"/>
              </a:ext>
            </a:extLst>
          </p:cNvPr>
          <p:cNvSpPr/>
          <p:nvPr/>
        </p:nvSpPr>
        <p:spPr>
          <a:xfrm>
            <a:off x="1954924" y="1166666"/>
            <a:ext cx="2120007" cy="765780"/>
          </a:xfrm>
          <a:prstGeom prst="roundRect">
            <a:avLst/>
          </a:prstGeom>
          <a:solidFill>
            <a:srgbClr val="FF7C8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Failure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(Down/Slow/Error)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2833F8-C1BE-3305-FA10-69283E4296E1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074931" y="1549556"/>
            <a:ext cx="68625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D188C8F-6F74-74AF-A944-4ADC8F19C407}"/>
              </a:ext>
            </a:extLst>
          </p:cNvPr>
          <p:cNvCxnSpPr/>
          <p:nvPr/>
        </p:nvCxnSpPr>
        <p:spPr>
          <a:xfrm>
            <a:off x="4761186" y="1549556"/>
            <a:ext cx="0" cy="97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EF5DFBC-B14A-B4D8-AA20-C55F964D81FC}"/>
              </a:ext>
            </a:extLst>
          </p:cNvPr>
          <p:cNvSpPr/>
          <p:nvPr/>
        </p:nvSpPr>
        <p:spPr>
          <a:xfrm rot="5565191">
            <a:off x="8637857" y="3356295"/>
            <a:ext cx="270213" cy="264525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2C942055-C598-D036-00A4-CCBE6148AD81}"/>
              </a:ext>
            </a:extLst>
          </p:cNvPr>
          <p:cNvSpPr/>
          <p:nvPr/>
        </p:nvSpPr>
        <p:spPr>
          <a:xfrm rot="5565191">
            <a:off x="11157024" y="3356295"/>
            <a:ext cx="270213" cy="264525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B6CD90FA-7B05-5CBE-4A56-38C004719BE2}"/>
              </a:ext>
            </a:extLst>
          </p:cNvPr>
          <p:cNvSpPr/>
          <p:nvPr/>
        </p:nvSpPr>
        <p:spPr>
          <a:xfrm rot="5565191">
            <a:off x="6112302" y="3368896"/>
            <a:ext cx="270213" cy="240477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E98DEEEA-3B6E-0440-313C-86524BC84BA9}"/>
              </a:ext>
            </a:extLst>
          </p:cNvPr>
          <p:cNvSpPr/>
          <p:nvPr/>
        </p:nvSpPr>
        <p:spPr>
          <a:xfrm>
            <a:off x="3200620" y="8888"/>
            <a:ext cx="7565923" cy="4424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Agents </a:t>
            </a:r>
            <a:r>
              <a:rPr lang="en-IN" sz="2400" b="1" dirty="0" err="1">
                <a:solidFill>
                  <a:schemeClr val="bg1"/>
                </a:solidFill>
              </a:rPr>
              <a:t>WorkFlow</a:t>
            </a:r>
            <a:r>
              <a:rPr lang="en-IN" sz="2400" b="1" dirty="0">
                <a:solidFill>
                  <a:schemeClr val="bg1"/>
                </a:solidFill>
              </a:rPr>
              <a:t> - Diagram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1F5B366-B2E8-0003-2A73-466CF8C7378E}"/>
              </a:ext>
            </a:extLst>
          </p:cNvPr>
          <p:cNvCxnSpPr>
            <a:cxnSpLocks/>
          </p:cNvCxnSpPr>
          <p:nvPr/>
        </p:nvCxnSpPr>
        <p:spPr>
          <a:xfrm>
            <a:off x="12537347" y="4273485"/>
            <a:ext cx="0" cy="51923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3486563-BA30-4AA2-D4AC-FC8FD527BFDD}"/>
              </a:ext>
            </a:extLst>
          </p:cNvPr>
          <p:cNvCxnSpPr/>
          <p:nvPr/>
        </p:nvCxnSpPr>
        <p:spPr>
          <a:xfrm flipH="1">
            <a:off x="7961586" y="4808483"/>
            <a:ext cx="455623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Diamond 30">
            <a:extLst>
              <a:ext uri="{FF2B5EF4-FFF2-40B4-BE49-F238E27FC236}">
                <a16:creationId xmlns:a16="http://schemas.microsoft.com/office/drawing/2014/main" id="{FF472332-6A9E-3A90-D9FB-3659C91ED0CE}"/>
              </a:ext>
            </a:extLst>
          </p:cNvPr>
          <p:cNvSpPr/>
          <p:nvPr/>
        </p:nvSpPr>
        <p:spPr>
          <a:xfrm>
            <a:off x="6839744" y="5485388"/>
            <a:ext cx="2251948" cy="1735219"/>
          </a:xfrm>
          <a:prstGeom prst="diamon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/>
                </a:solidFill>
              </a:rPr>
              <a:t>Recovery Success?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523F97-1E7A-19F9-3765-B8DD7B5324D0}"/>
              </a:ext>
            </a:extLst>
          </p:cNvPr>
          <p:cNvCxnSpPr>
            <a:endCxn id="31" idx="0"/>
          </p:cNvCxnSpPr>
          <p:nvPr/>
        </p:nvCxnSpPr>
        <p:spPr>
          <a:xfrm>
            <a:off x="7961586" y="4808483"/>
            <a:ext cx="0" cy="67690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D734A2-5EBC-C3F1-540E-4D4C3323067A}"/>
              </a:ext>
            </a:extLst>
          </p:cNvPr>
          <p:cNvCxnSpPr>
            <a:stCxn id="31" idx="3"/>
          </p:cNvCxnSpPr>
          <p:nvPr/>
        </p:nvCxnSpPr>
        <p:spPr>
          <a:xfrm>
            <a:off x="9091692" y="6352998"/>
            <a:ext cx="1155894" cy="50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605EE53-CBBD-6DC8-DB76-558C31263422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5612524" y="6352998"/>
            <a:ext cx="122722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A9B41F8-C330-0CCF-03CF-5816748E50DE}"/>
              </a:ext>
            </a:extLst>
          </p:cNvPr>
          <p:cNvSpPr/>
          <p:nvPr/>
        </p:nvSpPr>
        <p:spPr>
          <a:xfrm>
            <a:off x="10247586" y="5644055"/>
            <a:ext cx="2475186" cy="11814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Return output to User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D5F24B-2FE0-2F75-5BE5-357E0991A0A0}"/>
              </a:ext>
            </a:extLst>
          </p:cNvPr>
          <p:cNvSpPr txBox="1"/>
          <p:nvPr/>
        </p:nvSpPr>
        <p:spPr>
          <a:xfrm>
            <a:off x="9357216" y="5911041"/>
            <a:ext cx="96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A4AD9A-242C-F4D8-F290-F4FB11F21359}"/>
              </a:ext>
            </a:extLst>
          </p:cNvPr>
          <p:cNvSpPr txBox="1"/>
          <p:nvPr/>
        </p:nvSpPr>
        <p:spPr>
          <a:xfrm>
            <a:off x="5971977" y="5919446"/>
            <a:ext cx="804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5C2D096-79FA-0126-D73D-4D101C7EE12D}"/>
              </a:ext>
            </a:extLst>
          </p:cNvPr>
          <p:cNvSpPr/>
          <p:nvPr/>
        </p:nvSpPr>
        <p:spPr>
          <a:xfrm>
            <a:off x="3720662" y="5911041"/>
            <a:ext cx="1891862" cy="91441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Retry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</a:rPr>
              <a:t>(Max Retry Count)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F4C0CD0-D952-5702-8422-F1E2EADD1537}"/>
              </a:ext>
            </a:extLst>
          </p:cNvPr>
          <p:cNvCxnSpPr>
            <a:cxnSpLocks/>
          </p:cNvCxnSpPr>
          <p:nvPr/>
        </p:nvCxnSpPr>
        <p:spPr>
          <a:xfrm flipV="1">
            <a:off x="4714585" y="4257719"/>
            <a:ext cx="30140" cy="165332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697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00D7E9A3-25B4-2DE3-2DF4-921D359B0DC3}"/>
              </a:ext>
            </a:extLst>
          </p:cNvPr>
          <p:cNvSpPr/>
          <p:nvPr/>
        </p:nvSpPr>
        <p:spPr>
          <a:xfrm>
            <a:off x="3200620" y="8888"/>
            <a:ext cx="7565923" cy="4424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End-to-End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646AF-37E2-D0CF-472B-9D9221A9C3CE}"/>
              </a:ext>
            </a:extLst>
          </p:cNvPr>
          <p:cNvSpPr txBox="1"/>
          <p:nvPr/>
        </p:nvSpPr>
        <p:spPr>
          <a:xfrm>
            <a:off x="552014" y="1072054"/>
            <a:ext cx="329477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                 User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  Streamlit Chat Interface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User enters weather query</a:t>
            </a:r>
          </a:p>
          <a:p>
            <a:r>
              <a:rPr lang="en-IN" sz="1400" dirty="0"/>
              <a:t>      "Weather in Chennai"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    FastAPI Receives Request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    Middleware Processing</a:t>
            </a:r>
          </a:p>
          <a:p>
            <a:r>
              <a:rPr lang="en-IN" sz="1400" dirty="0"/>
              <a:t>     • Logging</a:t>
            </a:r>
          </a:p>
          <a:p>
            <a:r>
              <a:rPr lang="en-IN" sz="1400" dirty="0"/>
              <a:t>     • Monitoring</a:t>
            </a:r>
          </a:p>
          <a:p>
            <a:r>
              <a:rPr lang="en-IN" sz="1400" dirty="0"/>
              <a:t>     • Audit Trail</a:t>
            </a:r>
          </a:p>
          <a:p>
            <a:r>
              <a:rPr lang="en-IN" sz="1400" dirty="0"/>
              <a:t>     • Error Handling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  Guardrails Validation</a:t>
            </a:r>
          </a:p>
          <a:p>
            <a:r>
              <a:rPr lang="en-IN" sz="1400" dirty="0"/>
              <a:t>     • Input Validation</a:t>
            </a:r>
          </a:p>
          <a:p>
            <a:r>
              <a:rPr lang="en-IN" sz="1400" dirty="0"/>
              <a:t>     • PII Detection</a:t>
            </a:r>
          </a:p>
          <a:p>
            <a:r>
              <a:rPr lang="en-IN" sz="1400" dirty="0"/>
              <a:t>     • Policy Check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  Request sent to Weather API</a:t>
            </a:r>
          </a:p>
          <a:p>
            <a:r>
              <a:rPr lang="en-IN" sz="1400" dirty="0"/>
              <a:t>                    </a:t>
            </a:r>
          </a:p>
          <a:p>
            <a:r>
              <a:rPr lang="en-IN" sz="1400" dirty="0"/>
              <a:t>                    </a:t>
            </a:r>
          </a:p>
          <a:p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80C9A4-8D50-E3CC-01A8-D47757EAF688}"/>
              </a:ext>
            </a:extLst>
          </p:cNvPr>
          <p:cNvSpPr txBox="1"/>
          <p:nvPr/>
        </p:nvSpPr>
        <p:spPr>
          <a:xfrm>
            <a:off x="4966137" y="1072054"/>
            <a:ext cx="31058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     Weather API Failure</a:t>
            </a:r>
          </a:p>
          <a:p>
            <a:r>
              <a:rPr lang="en-IN" sz="1400" dirty="0"/>
              <a:t>      (503 / Timeout / Slow API)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Monitoring Agent Detects Issue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    Diagnosis Agent Analyses Logs</a:t>
            </a:r>
          </a:p>
          <a:p>
            <a:r>
              <a:rPr lang="en-IN" sz="1400" dirty="0"/>
              <a:t>                     │</a:t>
            </a:r>
          </a:p>
          <a:p>
            <a:r>
              <a:rPr lang="en-IN" sz="1400" dirty="0"/>
              <a:t>                    ▼</a:t>
            </a:r>
          </a:p>
          <a:p>
            <a:r>
              <a:rPr lang="en-IN" sz="1400" dirty="0"/>
              <a:t> Root Cause Agent Identifies Problem</a:t>
            </a:r>
          </a:p>
          <a:p>
            <a:r>
              <a:rPr lang="en-IN" sz="1400" dirty="0"/>
              <a:t>                     │</a:t>
            </a:r>
            <a:br>
              <a:rPr lang="en-IN" sz="1400" dirty="0"/>
            </a:br>
            <a:r>
              <a:rPr lang="en-IN" sz="1400" dirty="0"/>
              <a:t>                    ▼</a:t>
            </a:r>
            <a:br>
              <a:rPr lang="en-IN" sz="1400" dirty="0"/>
            </a:br>
            <a:r>
              <a:rPr lang="en-IN" sz="1400" dirty="0"/>
              <a:t>Healing Agent Executes Recovery</a:t>
            </a:r>
            <a:br>
              <a:rPr lang="en-IN" sz="1400" dirty="0"/>
            </a:br>
            <a:r>
              <a:rPr lang="en-IN" sz="1400" dirty="0"/>
              <a:t>• Restart Weather API</a:t>
            </a:r>
            <a:br>
              <a:rPr lang="en-IN" sz="1400" dirty="0"/>
            </a:br>
            <a:r>
              <a:rPr lang="en-IN" sz="1400" dirty="0"/>
              <a:t>• Retry Request</a:t>
            </a:r>
            <a:br>
              <a:rPr lang="en-IN" sz="1400" dirty="0"/>
            </a:br>
            <a:r>
              <a:rPr lang="en-IN" sz="1400" dirty="0"/>
              <a:t>• Clear Cache</a:t>
            </a:r>
            <a:br>
              <a:rPr lang="en-IN" sz="1400" dirty="0"/>
            </a:br>
            <a:r>
              <a:rPr lang="en-IN" sz="1400" dirty="0"/>
              <a:t>• Restart Container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A439F6-717E-100A-AF24-E730FE9D61DA}"/>
              </a:ext>
            </a:extLst>
          </p:cNvPr>
          <p:cNvSpPr txBox="1"/>
          <p:nvPr/>
        </p:nvSpPr>
        <p:spPr>
          <a:xfrm>
            <a:off x="9985378" y="1072054"/>
            <a:ext cx="369411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Validation Agent</a:t>
            </a:r>
            <a:br>
              <a:rPr lang="en-IN" sz="1400" dirty="0"/>
            </a:br>
            <a:r>
              <a:rPr lang="en-IN" sz="1400" dirty="0"/>
              <a:t>Performs Health Check</a:t>
            </a:r>
            <a:br>
              <a:rPr lang="en-IN" sz="1400" dirty="0"/>
            </a:br>
            <a:r>
              <a:rPr lang="en-IN" sz="1400" dirty="0"/>
              <a:t>               │</a:t>
            </a:r>
            <a:br>
              <a:rPr lang="en-IN" sz="1400" dirty="0"/>
            </a:br>
            <a:r>
              <a:rPr lang="en-IN" sz="1400" dirty="0"/>
              <a:t>              ▼</a:t>
            </a:r>
            <a:br>
              <a:rPr lang="en-IN" sz="1400" dirty="0"/>
            </a:br>
            <a:r>
              <a:rPr lang="en-IN" sz="1400" dirty="0"/>
              <a:t>Recovery Successful?</a:t>
            </a:r>
            <a:br>
              <a:rPr lang="en-IN" sz="1400" dirty="0"/>
            </a:br>
            <a:r>
              <a:rPr lang="en-IN" sz="1400" dirty="0"/>
              <a:t>┌───────┴────────┐</a:t>
            </a:r>
            <a:br>
              <a:rPr lang="en-IN" sz="1400" dirty="0"/>
            </a:br>
            <a:r>
              <a:rPr lang="en-IN" sz="1400" dirty="0"/>
              <a:t>│                                      │</a:t>
            </a:r>
            <a:br>
              <a:rPr lang="en-IN" sz="1400" dirty="0"/>
            </a:br>
            <a:r>
              <a:rPr lang="en-IN" sz="1400" dirty="0"/>
              <a:t>YES                                 NO</a:t>
            </a:r>
            <a:br>
              <a:rPr lang="en-IN" sz="1400" dirty="0"/>
            </a:br>
            <a:r>
              <a:rPr lang="en-IN" sz="1400" dirty="0"/>
              <a:t>│                                      │</a:t>
            </a:r>
            <a:br>
              <a:rPr lang="en-IN" sz="1400" dirty="0"/>
            </a:br>
            <a:r>
              <a:rPr lang="en-IN" sz="1400" dirty="0"/>
              <a:t>▼                                   ▼</a:t>
            </a:r>
            <a:br>
              <a:rPr lang="en-IN" sz="1400" dirty="0"/>
            </a:br>
            <a:r>
              <a:rPr lang="en-IN" sz="1400" dirty="0"/>
              <a:t>Learning Agent        Retry Recovery</a:t>
            </a:r>
            <a:br>
              <a:rPr lang="en-IN" sz="1400" dirty="0"/>
            </a:br>
            <a:r>
              <a:rPr lang="en-IN" sz="1400" dirty="0"/>
              <a:t>Stores Incident            (Max Retry)</a:t>
            </a:r>
            <a:br>
              <a:rPr lang="en-IN" sz="1400" dirty="0"/>
            </a:br>
            <a:r>
              <a:rPr lang="en-IN" sz="1400" dirty="0"/>
              <a:t>Knowledge                      │</a:t>
            </a:r>
            <a:br>
              <a:rPr lang="en-IN" sz="1400" dirty="0"/>
            </a:br>
            <a:r>
              <a:rPr lang="en-IN" sz="1400" dirty="0"/>
              <a:t>│                                        │</a:t>
            </a:r>
            <a:br>
              <a:rPr lang="en-IN" sz="1400" dirty="0"/>
            </a:br>
            <a:r>
              <a:rPr lang="en-IN" sz="1400" dirty="0"/>
              <a:t>└──────────┬──────┘</a:t>
            </a:r>
            <a:br>
              <a:rPr lang="en-IN" sz="1400" dirty="0"/>
            </a:br>
            <a:r>
              <a:rPr lang="en-IN" sz="1400" dirty="0"/>
              <a:t>                        ▼</a:t>
            </a:r>
            <a:br>
              <a:rPr lang="en-IN" sz="1400" dirty="0"/>
            </a:br>
            <a:r>
              <a:rPr lang="en-IN" sz="1400" dirty="0"/>
              <a:t>         Recovery Successful?</a:t>
            </a:r>
            <a:br>
              <a:rPr lang="en-IN" sz="1400" dirty="0"/>
            </a:br>
            <a:r>
              <a:rPr lang="en-IN" sz="1400" dirty="0"/>
              <a:t>                        │</a:t>
            </a:r>
            <a:br>
              <a:rPr lang="en-IN" sz="1400" dirty="0"/>
            </a:br>
            <a:r>
              <a:rPr lang="en-IN" sz="1400" dirty="0"/>
              <a:t>            ┌────┴────┐</a:t>
            </a:r>
            <a:br>
              <a:rPr lang="en-IN" sz="1400" dirty="0"/>
            </a:br>
            <a:r>
              <a:rPr lang="en-IN" sz="1400" dirty="0"/>
              <a:t>            │                        </a:t>
            </a:r>
            <a:br>
              <a:rPr lang="en-IN" sz="1400" dirty="0"/>
            </a:br>
            <a:r>
              <a:rPr lang="en-IN" sz="1400" dirty="0"/>
              <a:t>          YES                   NO</a:t>
            </a:r>
            <a:br>
              <a:rPr lang="en-IN" sz="1400" dirty="0"/>
            </a:br>
            <a:r>
              <a:rPr lang="en-IN" sz="1400" dirty="0"/>
              <a:t>            │                       │</a:t>
            </a:r>
            <a:br>
              <a:rPr lang="en-IN" sz="1400" dirty="0"/>
            </a:br>
            <a:r>
              <a:rPr lang="en-IN" sz="1400" dirty="0"/>
              <a:t>           ▼                     ▼</a:t>
            </a:r>
            <a:br>
              <a:rPr lang="en-IN" sz="1400" dirty="0"/>
            </a:br>
            <a:r>
              <a:rPr lang="en-IN" sz="1400" dirty="0"/>
              <a:t>Return Weather       Send Alert to</a:t>
            </a:r>
            <a:br>
              <a:rPr lang="en-IN" sz="1400" dirty="0"/>
            </a:br>
            <a:r>
              <a:rPr lang="en-IN" sz="1400" dirty="0"/>
              <a:t>Response User          Support Team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D3380D-EEC7-8845-74EB-FA98774CA485}"/>
              </a:ext>
            </a:extLst>
          </p:cNvPr>
          <p:cNvCxnSpPr>
            <a:cxnSpLocks/>
          </p:cNvCxnSpPr>
          <p:nvPr/>
        </p:nvCxnSpPr>
        <p:spPr>
          <a:xfrm>
            <a:off x="4083269" y="1245475"/>
            <a:ext cx="0" cy="551793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D710525-E72A-A016-35A9-2DFFD4833463}"/>
              </a:ext>
            </a:extLst>
          </p:cNvPr>
          <p:cNvCxnSpPr/>
          <p:nvPr/>
        </p:nvCxnSpPr>
        <p:spPr>
          <a:xfrm>
            <a:off x="3090041" y="6747641"/>
            <a:ext cx="10089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7C1843-C822-9CBF-772A-8DD1AC1EB789}"/>
              </a:ext>
            </a:extLst>
          </p:cNvPr>
          <p:cNvCxnSpPr/>
          <p:nvPr/>
        </p:nvCxnSpPr>
        <p:spPr>
          <a:xfrm>
            <a:off x="4099034" y="1245475"/>
            <a:ext cx="867103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4D4CF7-14F0-2E79-E9C2-5640F9C848B9}"/>
              </a:ext>
            </a:extLst>
          </p:cNvPr>
          <p:cNvCxnSpPr>
            <a:cxnSpLocks/>
          </p:cNvCxnSpPr>
          <p:nvPr/>
        </p:nvCxnSpPr>
        <p:spPr>
          <a:xfrm>
            <a:off x="7567447" y="4004440"/>
            <a:ext cx="12193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B44B68-8213-0827-0F8E-B61CBA76326A}"/>
              </a:ext>
            </a:extLst>
          </p:cNvPr>
          <p:cNvCxnSpPr>
            <a:cxnSpLocks/>
          </p:cNvCxnSpPr>
          <p:nvPr/>
        </p:nvCxnSpPr>
        <p:spPr>
          <a:xfrm>
            <a:off x="8749862" y="1245475"/>
            <a:ext cx="36923" cy="275896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D40217-3AE1-461C-C3E2-978A09B37E1F}"/>
              </a:ext>
            </a:extLst>
          </p:cNvPr>
          <p:cNvCxnSpPr/>
          <p:nvPr/>
        </p:nvCxnSpPr>
        <p:spPr>
          <a:xfrm>
            <a:off x="8786785" y="1245475"/>
            <a:ext cx="893243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869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9A27D3B3-EC23-BC44-5875-40F2AE1C83E7}"/>
              </a:ext>
            </a:extLst>
          </p:cNvPr>
          <p:cNvSpPr/>
          <p:nvPr/>
        </p:nvSpPr>
        <p:spPr>
          <a:xfrm>
            <a:off x="3200620" y="8888"/>
            <a:ext cx="7565923" cy="4424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Failure Scenarios</a:t>
            </a:r>
            <a:endParaRPr lang="en-I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014602-4FBA-415E-DCC2-3474C537C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037072"/>
              </p:ext>
            </p:extLst>
          </p:nvPr>
        </p:nvGraphicFramePr>
        <p:xfrm>
          <a:off x="939800" y="1743818"/>
          <a:ext cx="11799888" cy="3775079"/>
        </p:xfrm>
        <a:graphic>
          <a:graphicData uri="http://schemas.openxmlformats.org/drawingml/2006/table">
            <a:tbl>
              <a:tblPr/>
              <a:tblGrid>
                <a:gridCol w="3933296">
                  <a:extLst>
                    <a:ext uri="{9D8B030D-6E8A-4147-A177-3AD203B41FA5}">
                      <a16:colId xmlns:a16="http://schemas.microsoft.com/office/drawing/2014/main" val="1615398242"/>
                    </a:ext>
                  </a:extLst>
                </a:gridCol>
                <a:gridCol w="3933296">
                  <a:extLst>
                    <a:ext uri="{9D8B030D-6E8A-4147-A177-3AD203B41FA5}">
                      <a16:colId xmlns:a16="http://schemas.microsoft.com/office/drawing/2014/main" val="3049513310"/>
                    </a:ext>
                  </a:extLst>
                </a:gridCol>
                <a:gridCol w="3933296">
                  <a:extLst>
                    <a:ext uri="{9D8B030D-6E8A-4147-A177-3AD203B41FA5}">
                      <a16:colId xmlns:a16="http://schemas.microsoft.com/office/drawing/2014/main" val="25434277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2"/>
                          </a:solidFill>
                        </a:rPr>
                        <a:t>Failure</a:t>
                      </a:r>
                    </a:p>
                    <a:p>
                      <a:pPr>
                        <a:buNone/>
                      </a:pPr>
                      <a:endParaRPr lang="en-IN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2"/>
                          </a:solidFill>
                        </a:rPr>
                        <a:t>Detection</a:t>
                      </a:r>
                    </a:p>
                    <a:p>
                      <a:pPr>
                        <a:buNone/>
                      </a:pPr>
                      <a:endParaRPr lang="en-IN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2"/>
                          </a:solidFill>
                        </a:rPr>
                        <a:t>Healing</a:t>
                      </a:r>
                    </a:p>
                    <a:p>
                      <a:pPr>
                        <a:buNone/>
                      </a:pPr>
                      <a:endParaRPr lang="en-IN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991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HTTP 503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Restart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268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Timeout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Retry 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841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HTTP 429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Diagnosis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Backoff &amp; Retry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079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DNS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Root Cause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Reconnect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808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Invalid 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Validation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Retry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03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Docker Crash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Restart Container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4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Scale Container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511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 Leak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Diagnosis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Restart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803394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834E37-DA16-C675-0BB2-8C3A9BAE8BCA}"/>
              </a:ext>
            </a:extLst>
          </p:cNvPr>
          <p:cNvCxnSpPr>
            <a:cxnSpLocks/>
          </p:cNvCxnSpPr>
          <p:nvPr/>
        </p:nvCxnSpPr>
        <p:spPr>
          <a:xfrm>
            <a:off x="939800" y="1639614"/>
            <a:ext cx="9591566" cy="0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432D24-DEBF-3F6F-B895-318A0B23EE4E}"/>
              </a:ext>
            </a:extLst>
          </p:cNvPr>
          <p:cNvCxnSpPr/>
          <p:nvPr/>
        </p:nvCxnSpPr>
        <p:spPr>
          <a:xfrm>
            <a:off x="3563007" y="1178795"/>
            <a:ext cx="0" cy="36296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B0619D-F126-3D29-5A3F-48A7A6BBF0A8}"/>
              </a:ext>
            </a:extLst>
          </p:cNvPr>
          <p:cNvCxnSpPr/>
          <p:nvPr/>
        </p:nvCxnSpPr>
        <p:spPr>
          <a:xfrm>
            <a:off x="7704090" y="1220833"/>
            <a:ext cx="0" cy="36296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002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8B3DE0-F719-6563-529B-28DC6FB61614}"/>
              </a:ext>
            </a:extLst>
          </p:cNvPr>
          <p:cNvSpPr txBox="1"/>
          <p:nvPr/>
        </p:nvSpPr>
        <p:spPr>
          <a:xfrm>
            <a:off x="1056289" y="460701"/>
            <a:ext cx="68422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070C0"/>
                </a:solidFill>
              </a:rPr>
              <a:t>Business Benefits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80–90% reduction in manual intervention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Lower Mean Time to Recovery (MTTR)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Higher API availability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Improved customer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Faster incident resolution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Reduced operational costs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24×7 automated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Scalable and production-ready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C230F-847C-DFE5-3F62-B287345D0592}"/>
              </a:ext>
            </a:extLst>
          </p:cNvPr>
          <p:cNvSpPr txBox="1"/>
          <p:nvPr/>
        </p:nvSpPr>
        <p:spPr>
          <a:xfrm>
            <a:off x="1056289" y="3937922"/>
            <a:ext cx="68422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070C0"/>
                </a:solidFill>
              </a:rPr>
              <a:t>Future Enhancements</a:t>
            </a:r>
          </a:p>
          <a:p>
            <a:pPr>
              <a:buNone/>
            </a:pPr>
            <a:r>
              <a:rPr lang="en-IN" dirty="0"/>
              <a:t>Examples: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Kubernetes auto-scaling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Multi-cloud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 for multiple Weather APIs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Predictive failure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Grafana dashboard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Voice-enabled AI assistant</a:t>
            </a:r>
          </a:p>
        </p:txBody>
      </p:sp>
    </p:spTree>
    <p:extLst>
      <p:ext uri="{BB962C8B-B14F-4D97-AF65-F5344CB8AC3E}">
        <p14:creationId xmlns:p14="http://schemas.microsoft.com/office/powerpoint/2010/main" val="558282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FE8CE53-7E9F-0688-7AD7-3ABF75776DB6}"/>
              </a:ext>
            </a:extLst>
          </p:cNvPr>
          <p:cNvSpPr/>
          <p:nvPr/>
        </p:nvSpPr>
        <p:spPr>
          <a:xfrm>
            <a:off x="3200620" y="8888"/>
            <a:ext cx="7565923" cy="4424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Conclusion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1CC91C-E258-73B6-7342-2CE07CFB2AF9}"/>
              </a:ext>
            </a:extLst>
          </p:cNvPr>
          <p:cNvSpPr/>
          <p:nvPr/>
        </p:nvSpPr>
        <p:spPr>
          <a:xfrm>
            <a:off x="1639614" y="1340069"/>
            <a:ext cx="9080938" cy="4871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1008000" rtlCol="0" anchor="ctr"/>
          <a:lstStyle/>
          <a:p>
            <a:r>
              <a:rPr lang="en-IN" b="1" dirty="0" err="1"/>
              <a:t>AutoHealAI</a:t>
            </a:r>
            <a:r>
              <a:rPr lang="en-IN" b="1" dirty="0"/>
              <a:t> demonstrates how autonomous AI agents can transform traditional API monitoring into an intelligent self-healing platform.</a:t>
            </a:r>
          </a:p>
          <a:p>
            <a:endParaRPr lang="en-IN" b="1" dirty="0"/>
          </a:p>
          <a:p>
            <a:r>
              <a:rPr lang="en-IN" b="1" dirty="0"/>
              <a:t>By combining continuous monitoring, AI-driven diagnosis, automated recovery, and health validation, the platform significantly reduces downtime and operational effort while improving service reliability.</a:t>
            </a:r>
          </a:p>
          <a:p>
            <a:endParaRPr lang="en-IN" b="1" dirty="0"/>
          </a:p>
          <a:p>
            <a:r>
              <a:rPr lang="en-IN" b="1" dirty="0"/>
              <a:t>The modular architecture based on </a:t>
            </a:r>
            <a:r>
              <a:rPr lang="en-IN" b="1" dirty="0" err="1"/>
              <a:t>LangGraph</a:t>
            </a:r>
            <a:r>
              <a:rPr lang="en-IN" b="1" dirty="0"/>
              <a:t>, </a:t>
            </a:r>
            <a:r>
              <a:rPr lang="en-IN" b="1" dirty="0" err="1"/>
              <a:t>GraphRAG</a:t>
            </a:r>
            <a:r>
              <a:rPr lang="en-IN" b="1" dirty="0"/>
              <a:t>, </a:t>
            </a:r>
            <a:r>
              <a:rPr lang="en-IN" b="1" dirty="0" err="1"/>
              <a:t>LangSmith</a:t>
            </a:r>
            <a:r>
              <a:rPr lang="en-IN" b="1" dirty="0"/>
              <a:t>, and Docker enables scalable deployment and can be extended to monitor domains beyond Weather APIs, making it suitable for enterprise production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15722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286</TotalTime>
  <Words>1311</Words>
  <Application>Microsoft Office PowerPoint</Application>
  <PresentationFormat>Custom</PresentationFormat>
  <Paragraphs>304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Abjimiah</dc:creator>
  <cp:lastModifiedBy>Syed Abjimiah</cp:lastModifiedBy>
  <cp:revision>32</cp:revision>
  <dcterms:created xsi:type="dcterms:W3CDTF">2026-06-26T16:35:17Z</dcterms:created>
  <dcterms:modified xsi:type="dcterms:W3CDTF">2026-06-27T17:00:42Z</dcterms:modified>
</cp:coreProperties>
</file>